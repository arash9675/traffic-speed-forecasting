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7" r:id="rId2"/>
    <p:sldId id="258" r:id="rId3"/>
    <p:sldId id="276" r:id="rId4"/>
    <p:sldId id="297" r:id="rId5"/>
    <p:sldId id="298" r:id="rId6"/>
    <p:sldId id="263" r:id="rId7"/>
    <p:sldId id="299" r:id="rId8"/>
    <p:sldId id="300" r:id="rId9"/>
    <p:sldId id="301" r:id="rId10"/>
    <p:sldId id="302" r:id="rId11"/>
    <p:sldId id="264" r:id="rId12"/>
    <p:sldId id="303" r:id="rId13"/>
    <p:sldId id="318" r:id="rId14"/>
    <p:sldId id="304" r:id="rId15"/>
    <p:sldId id="306" r:id="rId16"/>
    <p:sldId id="305" r:id="rId17"/>
    <p:sldId id="307" r:id="rId18"/>
    <p:sldId id="308" r:id="rId19"/>
    <p:sldId id="309" r:id="rId20"/>
    <p:sldId id="316" r:id="rId21"/>
    <p:sldId id="310" r:id="rId22"/>
    <p:sldId id="317" r:id="rId23"/>
    <p:sldId id="311" r:id="rId24"/>
    <p:sldId id="312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9BA5D-222A-46E0-8F3D-3380F591A71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3CC69-961E-40A7-B8F7-78879096E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5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1116013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"Good morning/afternoon, everyone. My name is [Your Name] and my matriculation number is [Your Matriculation Number]."</a:t>
            </a:r>
          </a:p>
          <a:p>
            <a:r>
              <a:rPr lang="en-US" dirty="0">
                <a:effectLst/>
              </a:rPr>
              <a:t>• "Today, I'll be presenting our work on </a:t>
            </a:r>
            <a:r>
              <a:rPr lang="en-US" b="1" dirty="0">
                <a:effectLst/>
              </a:rPr>
              <a:t>'Traffic Prediction using GNNs and Graph Transformers'</a:t>
            </a:r>
            <a:r>
              <a:rPr lang="en-US" dirty="0">
                <a:effectLst/>
              </a:rPr>
              <a:t>, conducted as part of the MA-INF 4325 Lab Data Science in Practice: </a:t>
            </a:r>
            <a:r>
              <a:rPr lang="en-US" dirty="0" err="1">
                <a:effectLst/>
              </a:rPr>
              <a:t>Spatio</a:t>
            </a:r>
            <a:r>
              <a:rPr lang="en-US" dirty="0">
                <a:effectLst/>
              </a:rPr>
              <a:t>-Temporal Data Analytics, in Summer Semester 2025."</a:t>
            </a:r>
          </a:p>
          <a:p>
            <a:r>
              <a:rPr lang="en-US" dirty="0">
                <a:effectLst/>
              </a:rPr>
              <a:t>• "Our team consisted of myself, </a:t>
            </a:r>
            <a:r>
              <a:rPr lang="en-US" dirty="0" err="1">
                <a:effectLst/>
              </a:rPr>
              <a:t>Hitik</a:t>
            </a:r>
            <a:r>
              <a:rPr lang="en-US" dirty="0">
                <a:effectLst/>
              </a:rPr>
              <a:t> Panchal, and </a:t>
            </a:r>
            <a:r>
              <a:rPr lang="en-US" dirty="0" err="1">
                <a:effectLst/>
              </a:rPr>
              <a:t>Haofan</a:t>
            </a:r>
            <a:r>
              <a:rPr lang="en-US" dirty="0">
                <a:effectLst/>
              </a:rPr>
              <a:t> Wen."</a:t>
            </a:r>
          </a:p>
          <a:p>
            <a:r>
              <a:rPr lang="en-US" dirty="0">
                <a:effectLst/>
              </a:rPr>
              <a:t>• "My specific focus within this project was on the </a:t>
            </a:r>
            <a:r>
              <a:rPr lang="en-US" b="1" dirty="0">
                <a:effectLst/>
              </a:rPr>
              <a:t>implementation and evaluation of the </a:t>
            </a:r>
            <a:r>
              <a:rPr lang="en-US" b="1" dirty="0" err="1">
                <a:effectLst/>
              </a:rPr>
              <a:t>GraphTransformer</a:t>
            </a:r>
            <a:r>
              <a:rPr lang="en-US" b="1" dirty="0">
                <a:effectLst/>
              </a:rPr>
              <a:t> and GPS models</a:t>
            </a:r>
            <a:r>
              <a:rPr lang="en-US" dirty="0">
                <a:effectLst/>
              </a:rPr>
              <a:t> for node-level traffic speed regression."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Präsentationstitel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D100E-04C3-4367-8B3B-F175E9FAC26A}" type="datetime1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22.07.2025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Autor/Veranstaltung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210A4-2901-42F9-8CA9-E251F67383C7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119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"Traffic forecasting is a critically important task for modern urban planning, enabling efficient transportation systems and helping to mitigate congestion and its environmental impact."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26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"However, this task presents unique challenges. Road networks are inherently non-Euclidean, and traffic signals exhibit complex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dependencies. Traditional deep learning architectures, like CNNs or RNNs, often struggle to effectively model these irregular topologies and long-range spatial dependencies."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"In response, Graph Neural Networks and, more recently, Graph Transformers, have emerged as powerful alternatives. They offer a unified framework to integrate both structural information and temporal dynamics, making them well-suited for traffic prediction.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26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project aimed to benchmark the performance of five classical GNN architectures and, crucially for my part,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Transformer variants: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Graphormer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GraphTransformer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GPS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two widely-used traffic datasets: METR-LA and PEMS-Bay.“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investigated the impact of different graph structures by generating four custom adjacency matrices, and explored various temporal granularities."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"My individual contribution focused on the Graph Transformer and GPS models. These models are inspired by the immense success of Transformers in areas like natural language processing and computer vision.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 core idea is to integrate self-attention mechanisms directly with graph structures to learn powerful feature representations."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61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17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Specifically, I worked with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GraphTransformer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extends the Transformer concept to graph data by combining attention with positional encodings derived from random walks, and it supports edge-aware attention.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52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"And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GPS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short for 'General, Powerful, Scalable', which employs a hybrid architecture combining local message passing, similar to GNN layers, with global attention blocks. This design aims for efficiency on large graphs while maintaining expressive power."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10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task was node-level traffic speed regression. Given 12 historical time steps of traffic data, the models predict the next 12 time steps for each traffic sensor.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node, or sensor, we provided a rich set of input features: this included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traffic speeds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past 12 time steps,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cyclical time-of-day encodings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sine and cosine transformations to capture daily patterns,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 of each node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derived from our adjacency matrix, and importantly,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Walk Positional Encodings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embed structural awareness into the node features.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26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C3C87-2727-C37B-6FCB-90B2CDCF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E6CE4-137F-7C66-8BEB-025E285E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F2E33-673A-BA05-1752-2030D098A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models output a tensor representing the predicted traffic speeds for all 'N' nodes over the '12' future time steps, unscaled back to miles per hour for evaluation.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F4F61-6517-0533-56B9-C2B3AF6F2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33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key aspect of our approach was the use of four custom adjacency matrices, all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symmetrised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undirected message passing: standard k-NN and Radius-based graphs, and then 'lane-aware' versions of both. These lane-aware graphs only connect sensors on the same lane, aiming to encode more specific road topology.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12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"On this slide, you can see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 from our report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visually depicts the sensor placements for the METR-LA and PEMS-Bay datasets in QGIS, giving us a clear understanding of the underlying graph structures we aimed to model."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61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"Each layer in these models consists of three main components: first,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message-passing block using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GatedGraphConv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capture immediate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neighbourhood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interactions. Second,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attention block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utilising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TransformerConv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broader, attention-based information aggregation. These are followed by standard elements like residual connections, Layer Normalization, and a position-wise Feed-Forward Network to improve learning stability.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15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consistently used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such hybrid layers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hidden size of 64 and 4 attention heads. Positional encodings were set to 20 dimensions, and dropout at 0.1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regularisation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35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training, we ran for 20 epochs using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optimizer with a learning rate of 0.001 and weight decay of 0.01. Mean Squared Error was our loss function, and we used a chronological 60/20/20 train/validation/test split to preserve temporal causality."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44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ow, let's look at the experimental results, starting with the METR-LA dataset. Overall, both GPS and Graph Transformer demonstrated strong and competitive performance, with RMSE values reported in miles per hour."</a:t>
            </a:r>
          </a:p>
          <a:p>
            <a:r>
              <a:rPr lang="en-US" dirty="0">
                <a:effectLst/>
              </a:rPr>
              <a:t>• "At the </a:t>
            </a:r>
            <a:r>
              <a:rPr lang="en-US" b="1" dirty="0">
                <a:effectLst/>
              </a:rPr>
              <a:t>5-minute granularity</a:t>
            </a:r>
            <a:r>
              <a:rPr lang="en-US" dirty="0">
                <a:effectLst/>
              </a:rPr>
              <a:t>, which is fine-grained, we observed RMSEs ranging from approximately 9.34 to 9.84 mph. The GPS model generally showed a slight edge, achieving its best RMSE of 9.34 mph with the </a:t>
            </a:r>
            <a:r>
              <a:rPr lang="en-US" dirty="0" err="1">
                <a:effectLst/>
              </a:rPr>
              <a:t>KNN+Lane</a:t>
            </a:r>
            <a:r>
              <a:rPr lang="en-US" dirty="0">
                <a:effectLst/>
              </a:rPr>
              <a:t> adjacency matrix, just outperforming Graph Transformer's best of 9.43 mph with the same setting. The inclusion of lane information provided marginal, but consistent, improvements."</a:t>
            </a:r>
          </a:p>
          <a:p>
            <a:r>
              <a:rPr lang="en-US" dirty="0">
                <a:effectLst/>
              </a:rPr>
              <a:t>• "Moving to the </a:t>
            </a:r>
            <a:r>
              <a:rPr lang="en-US" b="1" dirty="0">
                <a:effectLst/>
              </a:rPr>
              <a:t>1-hour resolution</a:t>
            </a:r>
            <a:r>
              <a:rPr lang="en-US" dirty="0">
                <a:effectLst/>
              </a:rPr>
              <a:t>, the prediction task becomes slightly harder, with RMSEs between 11.29 and 11.66 mph. Here, the Graph Transformer actually had a slight advantage, achieving 11.29 mph with the </a:t>
            </a:r>
            <a:r>
              <a:rPr lang="en-US" dirty="0" err="1">
                <a:effectLst/>
              </a:rPr>
              <a:t>Radius+Lane</a:t>
            </a:r>
            <a:r>
              <a:rPr lang="en-US" dirty="0">
                <a:effectLst/>
              </a:rPr>
              <a:t> matrix, compared to GPS at 11.40 mph with the Radius variant. This suggests Graph Transformer's sensitivity to enhanced spatial encoding at this resolution."</a:t>
            </a:r>
          </a:p>
          <a:p>
            <a:r>
              <a:rPr lang="en-US" dirty="0">
                <a:effectLst/>
              </a:rPr>
              <a:t>• "For the </a:t>
            </a:r>
            <a:r>
              <a:rPr lang="en-US" b="1" dirty="0">
                <a:effectLst/>
              </a:rPr>
              <a:t>1-day setting</a:t>
            </a:r>
            <a:r>
              <a:rPr lang="en-US" dirty="0">
                <a:effectLst/>
              </a:rPr>
              <a:t>, long-term forecasting presents the most challenges, and RMSEs naturally increased. The GPS model performed better, with a best RMSE of 14.28 mph using the standard KNN matrix. The Graph Transformer showed higher RMSEs, particularly a notable 19.54 mph with the </a:t>
            </a:r>
            <a:r>
              <a:rPr lang="en-US" dirty="0" err="1">
                <a:effectLst/>
              </a:rPr>
              <a:t>Radius+Lane</a:t>
            </a:r>
            <a:r>
              <a:rPr lang="en-US" dirty="0">
                <a:effectLst/>
              </a:rPr>
              <a:t> variant, indicating some sensitivity to specific adjacency configurations at this longest time scale."</a:t>
            </a:r>
          </a:p>
          <a:p>
            <a:r>
              <a:rPr lang="en-US" dirty="0">
                <a:effectLst/>
              </a:rPr>
              <a:t>• "In summary for METR-LA: GPS generally performed slightly better at 5-minute and 1-day granularities, while Graph Transformer had a slight edge at 1-hour. Lane information was marginally beneficial, especially at shorter time scales, highlighting the importance of structural priors."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20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this slide, you can see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8 from our report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visually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results for METR-LA across different adjacency variants and temporal granularities for both GPS and Graph Transformer.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13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Turning to the PEMS-Bay dataset, a clear trend emerges: both models achieved significantly lower RMSE values compared to METR-LA. This indicates that the traffic patterns in PEMS-Bay are more regular and generally easier to predict."</a:t>
            </a:r>
          </a:p>
          <a:p>
            <a:r>
              <a:rPr lang="en-US" dirty="0">
                <a:effectLst/>
              </a:rPr>
              <a:t>• "Crucially, on PEMS-Bay, the performance of GPS and Graph Transformer was </a:t>
            </a:r>
            <a:r>
              <a:rPr lang="en-US" b="1" dirty="0">
                <a:effectLst/>
              </a:rPr>
              <a:t>remarkably similar, almost virtually indistinguishable</a:t>
            </a:r>
            <a:r>
              <a:rPr lang="en-US" dirty="0">
                <a:effectLst/>
              </a:rPr>
              <a:t> across most experimental settings."</a:t>
            </a:r>
          </a:p>
          <a:p>
            <a:r>
              <a:rPr lang="en-US" dirty="0">
                <a:effectLst/>
              </a:rPr>
              <a:t>• "At the </a:t>
            </a:r>
            <a:r>
              <a:rPr lang="en-US" b="1" dirty="0">
                <a:effectLst/>
              </a:rPr>
              <a:t>5-minute granularity</a:t>
            </a:r>
            <a:r>
              <a:rPr lang="en-US" dirty="0">
                <a:effectLst/>
              </a:rPr>
              <a:t>, both models showed strong performance, with RMSEs between approximately 4.7 and 5.5 mph. The choice of adjacency matrix had only a minor impact here, with standard KNN and Radius sometimes even slightly outperforming their lane-aware counterparts."</a:t>
            </a:r>
          </a:p>
          <a:p>
            <a:r>
              <a:rPr lang="en-US" dirty="0">
                <a:effectLst/>
              </a:rPr>
              <a:t>• "At the </a:t>
            </a:r>
            <a:r>
              <a:rPr lang="en-US" b="1" dirty="0">
                <a:effectLst/>
              </a:rPr>
              <a:t>1-hour resolution</a:t>
            </a:r>
            <a:r>
              <a:rPr lang="en-US" dirty="0">
                <a:effectLst/>
              </a:rPr>
              <a:t>, performance remained closely matched. The KNN variant yielded the best results for both models at around 4.65 mph, suggesting a simple k-NN based spatial representation is quite effective here."</a:t>
            </a:r>
          </a:p>
          <a:p>
            <a:r>
              <a:rPr lang="en-US" dirty="0">
                <a:effectLst/>
              </a:rPr>
              <a:t>• "For the </a:t>
            </a:r>
            <a:r>
              <a:rPr lang="en-US" b="1" dirty="0">
                <a:effectLst/>
              </a:rPr>
              <a:t>1-day forecasting horizon</a:t>
            </a:r>
            <a:r>
              <a:rPr lang="en-US" dirty="0">
                <a:effectLst/>
              </a:rPr>
              <a:t>, we saw an interesting shift: the </a:t>
            </a:r>
            <a:r>
              <a:rPr lang="en-US" dirty="0" err="1">
                <a:effectLst/>
              </a:rPr>
              <a:t>KNN+Lane</a:t>
            </a:r>
            <a:r>
              <a:rPr lang="en-US" dirty="0">
                <a:effectLst/>
              </a:rPr>
              <a:t> adjacency matrix provided a distinct advantage, leading to the lowest RMSE of 3.77 mph for both models. This highlights the increased importance of lane-level structural information for accurate long-term predictions, demonstrating the value of incorporating precise road topology for more distant forecasts."</a:t>
            </a:r>
          </a:p>
          <a:p>
            <a:r>
              <a:rPr lang="en-US" dirty="0">
                <a:effectLst/>
              </a:rPr>
              <a:t>• "In conclusion for PEMS-Bay: Both GPS and Graph Transformer delivered excellent and highly robust performance across different adjacency types and temporal granularities, underscoring their effectiveness on datasets with smoother </a:t>
            </a:r>
            <a:r>
              <a:rPr lang="en-US" dirty="0" err="1">
                <a:effectLst/>
              </a:rPr>
              <a:t>spatio</a:t>
            </a:r>
            <a:r>
              <a:rPr lang="en-US" dirty="0">
                <a:effectLst/>
              </a:rPr>
              <a:t>-temporal dynamics."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3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9 from our report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illustrates these findings for PEMS-Bay, showcasing the consistent and similar performance of both models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82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"To </a:t>
            </a:r>
            <a:r>
              <a:rPr lang="en-US" dirty="0" err="1">
                <a:effectLst/>
              </a:rPr>
              <a:t>summarise</a:t>
            </a:r>
            <a:r>
              <a:rPr lang="en-US" dirty="0">
                <a:effectLst/>
              </a:rPr>
              <a:t>, our experiments consistently demonstrate the strong performance of both Graph Transformer and GPS models for node-level traffic speed regression across both the METR-LA and PEMS-Bay datasets and different temporal granularities."</a:t>
            </a:r>
          </a:p>
          <a:p>
            <a:r>
              <a:rPr lang="en-US" dirty="0">
                <a:effectLst/>
              </a:rPr>
              <a:t>• "We also gained valuable insights into how the choice of adjacency matrix and temporal resolution impacts model performance, with lane information showing benefits especially at shorter and very long time scales."</a:t>
            </a:r>
          </a:p>
          <a:p>
            <a:r>
              <a:rPr lang="en-US" dirty="0">
                <a:effectLst/>
              </a:rPr>
              <a:t>• "As for </a:t>
            </a:r>
            <a:r>
              <a:rPr lang="en-US" b="1" dirty="0">
                <a:effectLst/>
              </a:rPr>
              <a:t>my individual contribution</a:t>
            </a:r>
            <a:r>
              <a:rPr lang="en-US" dirty="0">
                <a:effectLst/>
              </a:rPr>
              <a:t>, I was primarily responsible for implementing and evaluating these advanced Transformer-based models: the </a:t>
            </a:r>
            <a:r>
              <a:rPr lang="en-US" dirty="0" err="1">
                <a:effectLst/>
              </a:rPr>
              <a:t>GraphTransformer</a:t>
            </a:r>
            <a:r>
              <a:rPr lang="en-US" dirty="0">
                <a:effectLst/>
              </a:rPr>
              <a:t> and GPS."</a:t>
            </a:r>
          </a:p>
          <a:p>
            <a:r>
              <a:rPr lang="en-US" dirty="0">
                <a:effectLst/>
              </a:rPr>
              <a:t>• "My work involved designing the graph-specific attention mechanisms, integrating random walk positional encodings, and conducting extensive experiments with the various custom adjacency matrices to rigorously test and understand their effectiveness in capturing complex </a:t>
            </a:r>
            <a:r>
              <a:rPr lang="en-US" dirty="0" err="1">
                <a:effectLst/>
              </a:rPr>
              <a:t>spatio</a:t>
            </a:r>
            <a:r>
              <a:rPr lang="en-US" dirty="0">
                <a:effectLst/>
              </a:rPr>
              <a:t>-temporal dependencies in real-world traffic networks."</a:t>
            </a:r>
          </a:p>
          <a:p>
            <a:r>
              <a:rPr lang="en-US" dirty="0">
                <a:effectLst/>
              </a:rPr>
              <a:t>• "This work, combined with my teammates' contributions on GNNs and graph construction, provides a comprehensive comparative analysis, highlighting the respective strengths and limitations of these powerful architectures in traffic prediction."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87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11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F07E-F3AE-5F17-BAE0-DD2796E8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19EEF-1F9B-5A0E-28EA-E01297BF0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56518-6A44-FCD2-F439-9811F76C5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4A2DC-E856-EF65-7A84-3F86EBF1B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620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2574-D2F5-4A4C-9BF7-4CBCE97C5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360D1-01F6-A702-6F51-98F992694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028D6-3238-CC61-F0D1-769619776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88873-777B-3F0E-FD49-17795A496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3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5A03-D1BD-8B0E-F2B5-F3A50730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531A6-37A5-0852-E7C5-6ED7A844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DFC84-A94C-50CD-1A20-C277D15B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5B1A9-3A58-08F4-5746-A440C954D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75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6074-7D41-5F72-9B16-782AE4D1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F9E78-AC14-EF32-D1ED-E04506D50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14331-3E11-067C-E76C-FC62FEDD5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87482-D12E-043E-7BC1-FC5E50C64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80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AA1E-A1F6-B10A-0ADF-634AD998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82BE6-1508-E271-2119-6F595CCB6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6E203-2A40-C450-3D9B-BD13FA565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03DBC-0855-5930-EAC1-755A125C0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63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94249-BE74-A3CC-6861-6A2E8983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EA1A9-7F62-BBF4-75B0-AFA07CB53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C4841-0A30-302C-B52B-409136641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69E1B-083D-11BA-2989-25E38A6C8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183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20F1-9086-5A63-27AA-4CF14056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37A2C-543F-FF45-AE0B-2DC56540E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572CA-A943-BE1A-CBF4-45D7A2768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6A48B-1CD8-1340-E336-256E39922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21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92E9-1070-61FE-CA40-E0E0D4F2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6BA01-55E6-7118-57FA-AB4A6B3BA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1C18A-9925-5473-E4B5-BFD66F4C2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"While our models performed strongly, there are always avenues for further </a:t>
            </a:r>
            <a:r>
              <a:rPr lang="en-US" dirty="0" err="1">
                <a:effectLst/>
              </a:rPr>
              <a:t>optimisation</a:t>
            </a:r>
            <a:r>
              <a:rPr lang="en-US" dirty="0">
                <a:effectLst/>
              </a:rPr>
              <a:t> and future research." [91d]</a:t>
            </a:r>
          </a:p>
          <a:p>
            <a:r>
              <a:rPr lang="en-US" dirty="0">
                <a:effectLst/>
              </a:rPr>
              <a:t>• "One direction could be exploring </a:t>
            </a:r>
            <a:r>
              <a:rPr lang="en-US" b="1" dirty="0">
                <a:effectLst/>
              </a:rPr>
              <a:t>more sophisticated positional encodings</a:t>
            </a:r>
            <a:r>
              <a:rPr lang="en-US" dirty="0">
                <a:effectLst/>
              </a:rPr>
              <a:t> beyond random walks, perhaps incorporating more semantic or geometric information." [91d]</a:t>
            </a:r>
          </a:p>
          <a:p>
            <a:r>
              <a:rPr lang="en-US" dirty="0">
                <a:effectLst/>
              </a:rPr>
              <a:t>• "Another promising area is to investigate </a:t>
            </a:r>
            <a:r>
              <a:rPr lang="en-US" b="1" dirty="0">
                <a:effectLst/>
              </a:rPr>
              <a:t>dynamic graph structures</a:t>
            </a:r>
            <a:r>
              <a:rPr lang="en-US" dirty="0">
                <a:effectLst/>
              </a:rPr>
              <a:t>, where the graph connectivity itself evolves over time to reflect changing traffic conditions or road closures, rather than relying on static adjacency matrices." [91d]</a:t>
            </a:r>
          </a:p>
          <a:p>
            <a:r>
              <a:rPr lang="en-US" dirty="0">
                <a:effectLst/>
              </a:rPr>
              <a:t>• "Finally, exploring </a:t>
            </a:r>
            <a:r>
              <a:rPr lang="en-US" b="1" dirty="0">
                <a:effectLst/>
              </a:rPr>
              <a:t>multi-task learning</a:t>
            </a:r>
            <a:r>
              <a:rPr lang="en-US" dirty="0">
                <a:effectLst/>
              </a:rPr>
              <a:t> where traffic prediction is combined with other related tasks like anomaly detection or traffic flow estimation could lead to more robust and comprehensive models.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5352F-50AF-7DB2-699C-59F9F7FD6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3CC69-961E-40A7-B8F7-78879096EE5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54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/>
          <p:cNvGrpSpPr>
            <a:grpSpLocks noChangeAspect="1"/>
          </p:cNvGrpSpPr>
          <p:nvPr userDrawn="1"/>
        </p:nvGrpSpPr>
        <p:grpSpPr>
          <a:xfrm>
            <a:off x="4997700" y="1"/>
            <a:ext cx="7202471" cy="6858000"/>
            <a:chOff x="3778209" y="0"/>
            <a:chExt cx="5444993" cy="5184775"/>
          </a:xfrm>
        </p:grpSpPr>
        <p:pic>
          <p:nvPicPr>
            <p:cNvPr id="29" name="Grafik 2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8209" y="0"/>
              <a:ext cx="5444993" cy="5184775"/>
            </a:xfrm>
            <a:prstGeom prst="rect">
              <a:avLst/>
            </a:prstGeom>
          </p:spPr>
        </p:pic>
        <p:pic>
          <p:nvPicPr>
            <p:cNvPr id="30" name="Grafik 29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0771" y="1620454"/>
              <a:ext cx="1975907" cy="26532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1715346" y="2095720"/>
            <a:ext cx="6666759" cy="476179"/>
          </a:xfrm>
        </p:spPr>
        <p:txBody>
          <a:bodyPr wrap="none" bIns="0" anchor="b" anchorCtr="0"/>
          <a:lstStyle>
            <a:lvl1pPr>
              <a:lnSpc>
                <a:spcPts val="3174"/>
              </a:lnSpc>
              <a:defRPr sz="3174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715346" y="2571782"/>
            <a:ext cx="6666759" cy="2476130"/>
          </a:xfrm>
        </p:spPr>
        <p:txBody>
          <a:bodyPr tIns="0" bIns="0"/>
          <a:lstStyle>
            <a:lvl1pPr marL="0" indent="0" algn="l">
              <a:lnSpc>
                <a:spcPts val="4762"/>
              </a:lnSpc>
              <a:spcBef>
                <a:spcPts val="0"/>
              </a:spcBef>
              <a:spcAft>
                <a:spcPts val="0"/>
              </a:spcAft>
              <a:buNone/>
              <a:defRPr sz="4233" cap="all" baseline="0">
                <a:solidFill>
                  <a:schemeClr val="accent2"/>
                </a:solidFill>
                <a:latin typeface="Exo 2 Semi Bold" pitchFamily="50" charset="0"/>
              </a:defRPr>
            </a:lvl1pPr>
            <a:lvl2pPr marL="60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94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14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18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23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28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33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37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grpSp>
        <p:nvGrpSpPr>
          <p:cNvPr id="70" name="Gruppieren 69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7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9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0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1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2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3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4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5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6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7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8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89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166597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2270" y="1619806"/>
            <a:ext cx="11428729" cy="43808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63F3-8510-454A-AD3B-9AE781A6E6CD}" type="datetime1">
              <a:rPr lang="de-DE" smtClean="0"/>
              <a:t>22.07.2025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7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1715452" y="2095593"/>
            <a:ext cx="8571547" cy="476179"/>
          </a:xfrm>
        </p:spPr>
        <p:txBody>
          <a:bodyPr wrap="none" bIns="0" anchor="b" anchorCtr="0"/>
          <a:lstStyle>
            <a:lvl1pPr marL="0" indent="0">
              <a:lnSpc>
                <a:spcPts val="3174"/>
              </a:lnSpc>
              <a:spcBef>
                <a:spcPts val="0"/>
              </a:spcBef>
              <a:spcAft>
                <a:spcPts val="0"/>
              </a:spcAft>
              <a:buNone/>
              <a:defRPr sz="3704" cap="all" baseline="0">
                <a:solidFill>
                  <a:schemeClr val="accent1"/>
                </a:solidFill>
                <a:latin typeface="+mj-lt"/>
              </a:defRPr>
            </a:lvl1pPr>
            <a:lvl2pPr marL="604738" indent="0">
              <a:buNone/>
              <a:defRPr sz="2381">
                <a:solidFill>
                  <a:schemeClr val="tx1">
                    <a:tint val="75000"/>
                  </a:schemeClr>
                </a:solidFill>
              </a:defRPr>
            </a:lvl2pPr>
            <a:lvl3pPr marL="1209477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3pPr>
            <a:lvl4pPr marL="1814215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4pPr>
            <a:lvl5pPr marL="241895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5pPr>
            <a:lvl6pPr marL="3023692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6pPr>
            <a:lvl7pPr marL="3628431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7pPr>
            <a:lvl8pPr marL="4233169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8pPr>
            <a:lvl9pPr marL="483790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itel 1"/>
          <p:cNvSpPr>
            <a:spLocks noGrp="1"/>
          </p:cNvSpPr>
          <p:nvPr userDrawn="1">
            <p:ph type="title"/>
          </p:nvPr>
        </p:nvSpPr>
        <p:spPr>
          <a:xfrm>
            <a:off x="1715452" y="2572036"/>
            <a:ext cx="8571547" cy="2285658"/>
          </a:xfrm>
        </p:spPr>
        <p:txBody>
          <a:bodyPr anchor="t"/>
          <a:lstStyle>
            <a:lvl1pPr algn="l">
              <a:lnSpc>
                <a:spcPts val="5820"/>
              </a:lnSpc>
              <a:defRPr sz="5291" b="0" cap="all">
                <a:solidFill>
                  <a:schemeClr val="accent2"/>
                </a:solidFill>
                <a:latin typeface="Exo 2 Semi Bold" pitchFamily="50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Datumsplatzhalter 6" hidden="1"/>
          <p:cNvSpPr>
            <a:spLocks noGrp="1"/>
          </p:cNvSpPr>
          <p:nvPr>
            <p:ph type="dt" sz="half" idx="10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055FAD72-37A0-4EA7-A3F9-524E16027EFA}" type="datetime1">
              <a:rPr lang="de-DE" smtClean="0"/>
              <a:t>22.07.2025</a:t>
            </a:fld>
            <a:endParaRPr lang="de-DE"/>
          </a:p>
        </p:txBody>
      </p:sp>
      <p:sp>
        <p:nvSpPr>
          <p:cNvPr id="8" name="Fußzeilenplatzhalter 7" hidden="1"/>
          <p:cNvSpPr>
            <a:spLocks noGrp="1"/>
          </p:cNvSpPr>
          <p:nvPr>
            <p:ph type="ftr" sz="quarter" idx="11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 dirty="0"/>
          </a:p>
        </p:txBody>
      </p:sp>
      <p:sp>
        <p:nvSpPr>
          <p:cNvPr id="9" name="Foliennummernplatzhalter 8" hidden="1"/>
          <p:cNvSpPr>
            <a:spLocks noGrp="1"/>
          </p:cNvSpPr>
          <p:nvPr>
            <p:ph type="sldNum" sz="quarter" idx="12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10" name="Gruppieren 9"/>
          <p:cNvGrpSpPr>
            <a:grpSpLocks noChangeAspect="1"/>
          </p:cNvGrpSpPr>
          <p:nvPr userDrawn="1"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2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</p:spTree>
    <p:extLst>
      <p:ext uri="{BB962C8B-B14F-4D97-AF65-F5344CB8AC3E}">
        <p14:creationId xmlns:p14="http://schemas.microsoft.com/office/powerpoint/2010/main" val="404114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614" y="1618335"/>
            <a:ext cx="5523886" cy="4382316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86499" y="1619806"/>
            <a:ext cx="5523886" cy="438084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381"/>
            </a:lvl6pPr>
            <a:lvl7pPr>
              <a:defRPr sz="2381"/>
            </a:lvl7pPr>
            <a:lvl8pPr>
              <a:defRPr sz="2381"/>
            </a:lvl8pPr>
            <a:lvl9pPr>
              <a:defRPr sz="2381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303F-6C78-49B9-8F35-0757C024F527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8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614" y="1619382"/>
            <a:ext cx="5523886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80672" y="2380665"/>
            <a:ext cx="5524827" cy="3619985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86170" y="1619382"/>
            <a:ext cx="5524829" cy="571415"/>
          </a:xfrm>
        </p:spPr>
        <p:txBody>
          <a:bodyPr wrap="none" anchor="ctr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174" b="0" cap="all" baseline="0"/>
            </a:lvl1pPr>
            <a:lvl2pPr marL="604738" indent="0">
              <a:buNone/>
              <a:defRPr sz="2645" b="1"/>
            </a:lvl2pPr>
            <a:lvl3pPr marL="1209477" indent="0">
              <a:buNone/>
              <a:defRPr sz="2381" b="1"/>
            </a:lvl3pPr>
            <a:lvl4pPr marL="1814215" indent="0">
              <a:buNone/>
              <a:defRPr sz="2116" b="1"/>
            </a:lvl4pPr>
            <a:lvl5pPr marL="2418954" indent="0">
              <a:buNone/>
              <a:defRPr sz="2116" b="1"/>
            </a:lvl5pPr>
            <a:lvl6pPr marL="3023692" indent="0">
              <a:buNone/>
              <a:defRPr sz="2116" b="1"/>
            </a:lvl6pPr>
            <a:lvl7pPr marL="3628431" indent="0">
              <a:buNone/>
              <a:defRPr sz="2116" b="1"/>
            </a:lvl7pPr>
            <a:lvl8pPr marL="4233169" indent="0">
              <a:buNone/>
              <a:defRPr sz="2116" b="1"/>
            </a:lvl8pPr>
            <a:lvl9pPr marL="4837908" indent="0">
              <a:buNone/>
              <a:defRPr sz="2116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113" y="2381692"/>
            <a:ext cx="5523886" cy="3618959"/>
          </a:xfrm>
        </p:spPr>
        <p:txBody>
          <a:bodyPr/>
          <a:lstStyle>
            <a:lvl1pPr>
              <a:defRPr sz="2645"/>
            </a:lvl1pPr>
            <a:lvl2pPr>
              <a:defRPr sz="2645"/>
            </a:lvl2pPr>
            <a:lvl3pPr>
              <a:defRPr sz="2645"/>
            </a:lvl3pPr>
            <a:lvl4pPr>
              <a:defRPr sz="2645"/>
            </a:lvl4pPr>
            <a:lvl5pPr>
              <a:defRPr sz="2645"/>
            </a:lvl5pPr>
            <a:lvl6pPr>
              <a:defRPr sz="2116"/>
            </a:lvl6pPr>
            <a:lvl7pPr>
              <a:defRPr sz="2116"/>
            </a:lvl7pPr>
            <a:lvl8pPr>
              <a:defRPr sz="2116"/>
            </a:lvl8pPr>
            <a:lvl9pPr>
              <a:defRPr sz="211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3058-5DAC-48ED-81BB-B47400A6F8AA}" type="datetime1">
              <a:rPr lang="de-DE" smtClean="0"/>
              <a:t>22.07.2025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2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8335"/>
            <a:ext cx="2476225" cy="43823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Font typeface="Arial" panose="020B0604020202020204" pitchFamily="34" charset="0"/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238500" y="1618335"/>
            <a:ext cx="8572499" cy="43823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6C5A-5FD4-463F-97D3-8CECC8FF0F63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45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619319"/>
            <a:ext cx="11428729" cy="114331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82270" y="3142879"/>
            <a:ext cx="11428729" cy="2857771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72D18-55FE-4063-8063-38B55E3AAED1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2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381000" y="1619319"/>
            <a:ext cx="11428729" cy="2857073"/>
          </a:xfrm>
        </p:spPr>
        <p:txBody>
          <a:bodyPr/>
          <a:lstStyle>
            <a:lvl1pPr marL="0" indent="0"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1000" y="4857822"/>
            <a:ext cx="11428729" cy="114282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56"/>
              </a:spcAft>
              <a:buNone/>
              <a:defRPr sz="1852"/>
            </a:lvl1pPr>
            <a:lvl2pPr marL="285703" indent="0">
              <a:buNone/>
              <a:defRPr sz="1852"/>
            </a:lvl2pPr>
            <a:lvl3pPr marL="571406" indent="0">
              <a:buNone/>
              <a:defRPr sz="1852"/>
            </a:lvl3pPr>
            <a:lvl4pPr marL="857110" indent="0">
              <a:buNone/>
              <a:defRPr sz="1852"/>
            </a:lvl4pPr>
            <a:lvl5pPr marL="1142813" indent="0"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774-360F-4284-812D-584FA2146377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70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el, zwei Inhalte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 hasCustomPrompt="1"/>
          </p:nvPr>
        </p:nvSpPr>
        <p:spPr>
          <a:xfrm>
            <a:off x="381000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113" y="1619636"/>
            <a:ext cx="5523886" cy="2857073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/>
          </p:nvPr>
        </p:nvSpPr>
        <p:spPr>
          <a:xfrm>
            <a:off x="381000" y="4857822"/>
            <a:ext cx="11431837" cy="1142829"/>
          </a:xfrm>
        </p:spPr>
        <p:txBody>
          <a:bodyPr/>
          <a:lstStyle>
            <a:lvl1pPr marL="0" indent="0">
              <a:spcAft>
                <a:spcPts val="556"/>
              </a:spcAft>
              <a:buNone/>
              <a:defRPr sz="1852"/>
            </a:lvl1pPr>
            <a:lvl2pPr marL="285703" indent="0">
              <a:spcAft>
                <a:spcPts val="556"/>
              </a:spcAft>
              <a:buNone/>
              <a:defRPr sz="1852"/>
            </a:lvl2pPr>
            <a:lvl3pPr marL="571406" indent="0">
              <a:spcAft>
                <a:spcPts val="556"/>
              </a:spcAft>
              <a:buNone/>
              <a:defRPr sz="1852"/>
            </a:lvl3pPr>
            <a:lvl4pPr marL="857110" indent="0">
              <a:spcAft>
                <a:spcPts val="556"/>
              </a:spcAft>
              <a:buNone/>
              <a:defRPr sz="1852"/>
            </a:lvl4pPr>
            <a:lvl5pPr marL="1142813" indent="0">
              <a:spcAft>
                <a:spcPts val="556"/>
              </a:spcAft>
              <a:buNone/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FCFE-4488-4329-B803-13227EA3603E}" type="datetime1">
              <a:rPr lang="de-DE" smtClean="0"/>
              <a:t>22.07.2025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31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0084" y="1618960"/>
            <a:ext cx="5524827" cy="4382316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 hasCustomPrompt="1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0" indent="0">
              <a:buNone/>
              <a:defRPr/>
            </a:lvl1pPr>
            <a:lvl2pPr marL="285703" indent="0">
              <a:buNone/>
              <a:defRPr/>
            </a:lvl2pPr>
            <a:lvl3pPr marL="571406" indent="0">
              <a:buNone/>
              <a:defRPr/>
            </a:lvl3pPr>
            <a:lvl4pPr marL="857110" indent="0">
              <a:buNone/>
              <a:defRPr/>
            </a:lvl4pPr>
            <a:lvl5pPr marL="1142813" indent="0">
              <a:buNone/>
              <a:defRPr/>
            </a:lvl5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B63B-D7D8-468E-8B88-53D5092508A0}" type="datetime1">
              <a:rPr lang="de-DE" smtClean="0"/>
              <a:t>22.07.2025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57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80082" y="1618960"/>
            <a:ext cx="5524827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6287091" y="1618960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394977" y="4000151"/>
            <a:ext cx="5509932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87091" y="4000151"/>
            <a:ext cx="5524829" cy="2001124"/>
          </a:xfrm>
        </p:spPr>
        <p:txBody>
          <a:bodyPr/>
          <a:lstStyle>
            <a:lvl1pPr marL="190469" indent="-190469">
              <a:spcBef>
                <a:spcPts val="0"/>
              </a:spcBef>
              <a:spcAft>
                <a:spcPts val="556"/>
              </a:spcAft>
              <a:defRPr sz="1852"/>
            </a:lvl1pPr>
            <a:lvl2pPr marL="380938" indent="-190469">
              <a:spcBef>
                <a:spcPts val="0"/>
              </a:spcBef>
              <a:spcAft>
                <a:spcPts val="556"/>
              </a:spcAft>
              <a:defRPr sz="1852"/>
            </a:lvl2pPr>
            <a:lvl3pPr marL="571406" indent="-190469">
              <a:spcBef>
                <a:spcPts val="0"/>
              </a:spcBef>
              <a:spcAft>
                <a:spcPts val="556"/>
              </a:spcAft>
              <a:defRPr sz="1852"/>
            </a:lvl3pPr>
            <a:lvl4pPr marL="761875" indent="-190469">
              <a:spcBef>
                <a:spcPts val="0"/>
              </a:spcBef>
              <a:spcAft>
                <a:spcPts val="556"/>
              </a:spcAft>
              <a:defRPr sz="1852"/>
            </a:lvl4pPr>
            <a:lvl5pPr marL="952344" indent="-190469">
              <a:spcAft>
                <a:spcPts val="556"/>
              </a:spcAft>
              <a:defRPr sz="1852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2E53-CA55-4296-934F-EAB9FA2B075A}" type="datetime1">
              <a:rPr lang="de-DE" smtClean="0"/>
              <a:t>22.07.2025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81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511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2270" y="1618959"/>
            <a:ext cx="11428729" cy="390466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0081" y="5524472"/>
            <a:ext cx="11428729" cy="476179"/>
          </a:xfrm>
        </p:spPr>
        <p:txBody>
          <a:bodyPr anchor="ctr" anchorCtr="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DA40-682F-4A72-91B8-7CC8B5E5B17E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0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/>
          <a:lstStyle>
            <a:lvl1pPr algn="l">
              <a:defRPr sz="3174" b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8"/>
            <a:ext cx="7809631" cy="4380845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72499" y="1618958"/>
            <a:ext cx="3239420" cy="4380845"/>
          </a:xfrm>
        </p:spPr>
        <p:txBody>
          <a:bodyPr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4B721-F712-4A87-A1B3-81E67417E291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04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mit 2-spaltigem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7122"/>
          </a:xfrm>
        </p:spPr>
        <p:txBody>
          <a:bodyPr anchor="b" anchorCtr="0"/>
          <a:lstStyle>
            <a:lvl1pPr algn="l">
              <a:defRPr lang="de-DE" dirty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1868" y="1618957"/>
            <a:ext cx="2476092" cy="2001126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  <a:lvl2pPr marL="604738" indent="0">
              <a:buNone/>
              <a:defRPr sz="3704"/>
            </a:lvl2pPr>
            <a:lvl3pPr marL="1209477" indent="0">
              <a:buNone/>
              <a:defRPr sz="3174"/>
            </a:lvl3pPr>
            <a:lvl4pPr marL="1814215" indent="0">
              <a:buNone/>
              <a:defRPr sz="2645"/>
            </a:lvl4pPr>
            <a:lvl5pPr marL="2418954" indent="0">
              <a:buNone/>
              <a:defRPr sz="2645"/>
            </a:lvl5pPr>
            <a:lvl6pPr marL="3023692" indent="0">
              <a:buNone/>
              <a:defRPr sz="2645"/>
            </a:lvl6pPr>
            <a:lvl7pPr marL="3628431" indent="0">
              <a:buNone/>
              <a:defRPr sz="2645"/>
            </a:lvl7pPr>
            <a:lvl8pPr marL="4233169" indent="0">
              <a:buNone/>
              <a:defRPr sz="2645"/>
            </a:lvl8pPr>
            <a:lvl9pPr marL="4837908" indent="0">
              <a:buNone/>
              <a:defRPr sz="264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238500" y="1618958"/>
            <a:ext cx="8573420" cy="4380845"/>
          </a:xfrm>
        </p:spPr>
        <p:txBody>
          <a:bodyPr numCol="2" spcCol="216000"/>
          <a:lstStyle>
            <a:lvl1pPr marL="0" indent="0">
              <a:buNone/>
              <a:defRPr sz="1852"/>
            </a:lvl1pPr>
            <a:lvl2pPr marL="604738" indent="0">
              <a:buNone/>
              <a:defRPr sz="1587"/>
            </a:lvl2pPr>
            <a:lvl3pPr marL="1209477" indent="0">
              <a:buNone/>
              <a:defRPr sz="1323"/>
            </a:lvl3pPr>
            <a:lvl4pPr marL="1814215" indent="0">
              <a:buNone/>
              <a:defRPr sz="1190"/>
            </a:lvl4pPr>
            <a:lvl5pPr marL="2418954" indent="0">
              <a:buNone/>
              <a:defRPr sz="1190"/>
            </a:lvl5pPr>
            <a:lvl6pPr marL="3023692" indent="0">
              <a:buNone/>
              <a:defRPr sz="1190"/>
            </a:lvl6pPr>
            <a:lvl7pPr marL="3628431" indent="0">
              <a:buNone/>
              <a:defRPr sz="1190"/>
            </a:lvl7pPr>
            <a:lvl8pPr marL="4233169" indent="0">
              <a:buNone/>
              <a:defRPr sz="1190"/>
            </a:lvl8pPr>
            <a:lvl9pPr marL="4837908" indent="0">
              <a:buNone/>
              <a:defRPr sz="119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F05B3-AC95-4EB3-8074-385C98C62896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380082" y="4000151"/>
            <a:ext cx="2477878" cy="2001124"/>
          </a:xfrm>
          <a:pattFill prst="ltUpDiag">
            <a:fgClr>
              <a:schemeClr val="accent1"/>
            </a:fgClr>
            <a:bgClr>
              <a:schemeClr val="bg1"/>
            </a:bgClr>
          </a:pattFill>
        </p:spPr>
        <p:txBody>
          <a:bodyPr lIns="144000" tIns="144000"/>
          <a:lstStyle>
            <a:lvl1pPr marL="0" indent="0">
              <a:buNone/>
              <a:defRPr sz="1852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434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A1C50-D2C0-4567-B55A-86D475DCF0E6}" type="datetime1">
              <a:rPr lang="de-DE" smtClean="0"/>
              <a:t>22.07.2025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232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85ED7-2E71-441F-9756-ED26D153AD01}" type="datetime1">
              <a:rPr lang="de-DE" smtClean="0"/>
              <a:t>22.07.2025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466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-1" y="1238893"/>
            <a:ext cx="12192000" cy="5619108"/>
          </a:xfrm>
          <a:noFill/>
        </p:spPr>
        <p:txBody>
          <a:bodyPr lIns="1296000" tIns="720000" rIns="1440000"/>
          <a:lstStyle>
            <a:lvl1pPr marL="0" indent="0">
              <a:lnSpc>
                <a:spcPts val="4233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10341" algn="l"/>
              </a:tabLst>
              <a:defRPr sz="3704" baseline="0"/>
            </a:lvl1pPr>
          </a:lstStyle>
          <a:p>
            <a:pPr lvl="0"/>
            <a:r>
              <a:rPr lang="de-DE" dirty="0"/>
              <a:t>Durch Klicken individuelle Dankesformel hinzufügen</a:t>
            </a:r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714500" y="4382317"/>
            <a:ext cx="5524827" cy="1618958"/>
          </a:xfrm>
        </p:spPr>
        <p:txBody>
          <a:bodyPr/>
          <a:lstStyle>
            <a:lvl1pPr marL="0" indent="0">
              <a:buNone/>
              <a:defRPr sz="1852" baseline="0"/>
            </a:lvl1pPr>
          </a:lstStyle>
          <a:p>
            <a:pPr lvl="0"/>
            <a:r>
              <a:rPr lang="de-DE" dirty="0"/>
              <a:t>Durch Klicken Autor/Adresse/Kontaktdaten hinzufügen</a:t>
            </a:r>
          </a:p>
        </p:txBody>
      </p:sp>
      <p:grpSp>
        <p:nvGrpSpPr>
          <p:cNvPr id="31" name="Gruppieren 30"/>
          <p:cNvGrpSpPr>
            <a:grpSpLocks noChangeAspect="1"/>
          </p:cNvGrpSpPr>
          <p:nvPr userDrawn="1"/>
        </p:nvGrpSpPr>
        <p:grpSpPr>
          <a:xfrm>
            <a:off x="381001" y="381211"/>
            <a:ext cx="2230875" cy="857122"/>
            <a:chOff x="7081838" y="144463"/>
            <a:chExt cx="1871662" cy="719137"/>
          </a:xfrm>
        </p:grpSpPr>
        <p:sp>
          <p:nvSpPr>
            <p:cNvPr id="52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3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4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5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6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7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8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0" name="Freeform 12"/>
            <p:cNvSpPr>
              <a:spLocks/>
            </p:cNvSpPr>
            <p:nvPr userDrawn="1"/>
          </p:nvSpPr>
          <p:spPr bwMode="auto">
            <a:xfrm>
              <a:off x="7081838" y="692150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1" name="Freeform 13"/>
            <p:cNvSpPr>
              <a:spLocks/>
            </p:cNvSpPr>
            <p:nvPr userDrawn="1"/>
          </p:nvSpPr>
          <p:spPr bwMode="auto">
            <a:xfrm>
              <a:off x="7207250" y="692150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2" name="Rectangle 14"/>
            <p:cNvSpPr>
              <a:spLocks noChangeArrowheads="1"/>
            </p:cNvSpPr>
            <p:nvPr userDrawn="1"/>
          </p:nvSpPr>
          <p:spPr bwMode="auto">
            <a:xfrm>
              <a:off x="7340600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3" name="Freeform 15"/>
            <p:cNvSpPr>
              <a:spLocks/>
            </p:cNvSpPr>
            <p:nvPr userDrawn="1"/>
          </p:nvSpPr>
          <p:spPr bwMode="auto">
            <a:xfrm>
              <a:off x="7378700" y="692150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4" name="Freeform 16"/>
            <p:cNvSpPr>
              <a:spLocks/>
            </p:cNvSpPr>
            <p:nvPr userDrawn="1"/>
          </p:nvSpPr>
          <p:spPr bwMode="auto">
            <a:xfrm>
              <a:off x="7505700" y="692150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5" name="Freeform 17"/>
            <p:cNvSpPr>
              <a:spLocks noEditPoints="1"/>
            </p:cNvSpPr>
            <p:nvPr userDrawn="1"/>
          </p:nvSpPr>
          <p:spPr bwMode="auto">
            <a:xfrm>
              <a:off x="7612063" y="690563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6" name="Freeform 18"/>
            <p:cNvSpPr>
              <a:spLocks/>
            </p:cNvSpPr>
            <p:nvPr userDrawn="1"/>
          </p:nvSpPr>
          <p:spPr bwMode="auto">
            <a:xfrm>
              <a:off x="7723188" y="688975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7" name="Rectangle 19"/>
            <p:cNvSpPr>
              <a:spLocks noChangeArrowheads="1"/>
            </p:cNvSpPr>
            <p:nvPr userDrawn="1"/>
          </p:nvSpPr>
          <p:spPr bwMode="auto">
            <a:xfrm>
              <a:off x="7834313" y="692150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8" name="Freeform 20"/>
            <p:cNvSpPr>
              <a:spLocks/>
            </p:cNvSpPr>
            <p:nvPr userDrawn="1"/>
          </p:nvSpPr>
          <p:spPr bwMode="auto">
            <a:xfrm>
              <a:off x="7872413" y="692150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69" name="Freeform 21"/>
            <p:cNvSpPr>
              <a:spLocks noEditPoints="1"/>
            </p:cNvSpPr>
            <p:nvPr userDrawn="1"/>
          </p:nvSpPr>
          <p:spPr bwMode="auto">
            <a:xfrm>
              <a:off x="7969250" y="657225"/>
              <a:ext cx="114300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70" name="Freeform 22"/>
            <p:cNvSpPr>
              <a:spLocks/>
            </p:cNvSpPr>
            <p:nvPr userDrawn="1"/>
          </p:nvSpPr>
          <p:spPr bwMode="auto">
            <a:xfrm>
              <a:off x="8078788" y="692150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sp>
        <p:nvSpPr>
          <p:cNvPr id="71" name="Freeform 7"/>
          <p:cNvSpPr>
            <a:spLocks noChangeAspect="1"/>
          </p:cNvSpPr>
          <p:nvPr userDrawn="1"/>
        </p:nvSpPr>
        <p:spPr bwMode="auto">
          <a:xfrm>
            <a:off x="1714499" y="0"/>
            <a:ext cx="10477500" cy="6856975"/>
          </a:xfrm>
          <a:custGeom>
            <a:avLst/>
            <a:gdLst>
              <a:gd name="T0" fmla="*/ 2000 w 2000"/>
              <a:gd name="T1" fmla="*/ 0 h 1349"/>
              <a:gd name="T2" fmla="*/ 1361 w 2000"/>
              <a:gd name="T3" fmla="*/ 0 h 1349"/>
              <a:gd name="T4" fmla="*/ 992 w 2000"/>
              <a:gd name="T5" fmla="*/ 627 h 1349"/>
              <a:gd name="T6" fmla="*/ 0 w 2000"/>
              <a:gd name="T7" fmla="*/ 1193 h 1349"/>
              <a:gd name="T8" fmla="*/ 0 w 2000"/>
              <a:gd name="T9" fmla="*/ 1349 h 1349"/>
              <a:gd name="T10" fmla="*/ 2000 w 2000"/>
              <a:gd name="T11" fmla="*/ 1349 h 1349"/>
              <a:gd name="T12" fmla="*/ 2000 w 2000"/>
              <a:gd name="T13" fmla="*/ 0 h 1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349">
                <a:moveTo>
                  <a:pt x="2000" y="0"/>
                </a:moveTo>
                <a:lnTo>
                  <a:pt x="1361" y="0"/>
                </a:lnTo>
                <a:cubicBezTo>
                  <a:pt x="1285" y="208"/>
                  <a:pt x="1168" y="419"/>
                  <a:pt x="992" y="627"/>
                </a:cubicBezTo>
                <a:cubicBezTo>
                  <a:pt x="644" y="1036"/>
                  <a:pt x="259" y="1159"/>
                  <a:pt x="0" y="1193"/>
                </a:cubicBezTo>
                <a:lnTo>
                  <a:pt x="0" y="1349"/>
                </a:lnTo>
                <a:lnTo>
                  <a:pt x="2000" y="1349"/>
                </a:lnTo>
                <a:lnTo>
                  <a:pt x="2000" y="0"/>
                </a:lnTo>
                <a:close/>
              </a:path>
            </a:pathLst>
          </a:custGeom>
          <a:solidFill>
            <a:srgbClr val="7A786C">
              <a:alpha val="15000"/>
            </a:srgbClr>
          </a:solidFill>
          <a:ln>
            <a:noFill/>
          </a:ln>
        </p:spPr>
        <p:txBody>
          <a:bodyPr vert="horz" wrap="square" lIns="120949" tIns="60475" rIns="120949" bIns="60475" numCol="1" anchor="t" anchorCtr="0" compatLnSpc="1">
            <a:prstTxWarp prst="textNoShape">
              <a:avLst/>
            </a:prstTxWarp>
          </a:bodyPr>
          <a:lstStyle/>
          <a:p>
            <a:endParaRPr lang="de-DE" sz="2381"/>
          </a:p>
        </p:txBody>
      </p:sp>
      <p:sp>
        <p:nvSpPr>
          <p:cNvPr id="5" name="Datumsplatzhalter 4" hidden="1"/>
          <p:cNvSpPr>
            <a:spLocks noGrp="1"/>
          </p:cNvSpPr>
          <p:nvPr>
            <p:ph type="dt" sz="half" idx="15"/>
          </p:nvPr>
        </p:nvSpPr>
        <p:spPr>
          <a:xfrm>
            <a:off x="381000" y="6953114"/>
            <a:ext cx="1142873" cy="380943"/>
          </a:xfrm>
        </p:spPr>
        <p:txBody>
          <a:bodyPr/>
          <a:lstStyle/>
          <a:p>
            <a:fld id="{856CE342-1F15-4841-AD22-B3A9FB55385D}" type="datetime1">
              <a:rPr lang="de-DE" smtClean="0"/>
              <a:t>22.07.2025</a:t>
            </a:fld>
            <a:endParaRPr lang="de-DE"/>
          </a:p>
        </p:txBody>
      </p:sp>
      <p:sp>
        <p:nvSpPr>
          <p:cNvPr id="6" name="Fußzeilenplatzhalter 5" hidden="1"/>
          <p:cNvSpPr>
            <a:spLocks noGrp="1"/>
          </p:cNvSpPr>
          <p:nvPr>
            <p:ph type="ftr" sz="quarter" idx="16"/>
          </p:nvPr>
        </p:nvSpPr>
        <p:spPr>
          <a:xfrm>
            <a:off x="2762249" y="6953156"/>
            <a:ext cx="6666759" cy="380943"/>
          </a:xfrm>
        </p:spPr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 dirty="0"/>
          </a:p>
        </p:txBody>
      </p:sp>
      <p:sp>
        <p:nvSpPr>
          <p:cNvPr id="8" name="Foliennummernplatzhalter 7" hidden="1"/>
          <p:cNvSpPr>
            <a:spLocks noGrp="1"/>
          </p:cNvSpPr>
          <p:nvPr>
            <p:ph type="sldNum" sz="quarter" idx="17"/>
          </p:nvPr>
        </p:nvSpPr>
        <p:spPr>
          <a:xfrm>
            <a:off x="11049084" y="6953114"/>
            <a:ext cx="761915" cy="380943"/>
          </a:xfrm>
        </p:spPr>
        <p:txBody>
          <a:bodyPr/>
          <a:lstStyle/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574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87F4E-5116-43E4-B2AB-4A2AC5BA8E37}" type="datetime1">
              <a:rPr lang="de-DE" smtClean="0"/>
              <a:t>22.07.2025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25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953499" y="1618959"/>
            <a:ext cx="2858420" cy="4382316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80083" y="1618959"/>
            <a:ext cx="8190589" cy="438084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8D5C-0463-4692-828F-A6C24A6658E6}" type="datetime1">
              <a:rPr lang="de-DE" smtClean="0"/>
              <a:t>22.07.2025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Traffic Predict via GPS and GT/Arash Astanboos/University of Bonn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F1E04-A1A3-475C-A843-CFD0985386E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91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239452" y="382166"/>
            <a:ext cx="8571547" cy="85616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19319"/>
            <a:ext cx="11428729" cy="43808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81000" y="6381636"/>
            <a:ext cx="1142873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323">
                <a:solidFill>
                  <a:schemeClr val="accent1"/>
                </a:solidFill>
              </a:defRPr>
            </a:lvl1pPr>
          </a:lstStyle>
          <a:p>
            <a:fld id="{CA3A5E04-62B4-4AD0-8E96-F2F5EFD01695}" type="datetime1">
              <a:rPr lang="de-DE" smtClean="0"/>
              <a:t>22.07.2025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62249" y="6381678"/>
            <a:ext cx="6666759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ctr">
              <a:defRPr sz="1323">
                <a:solidFill>
                  <a:schemeClr val="accent1"/>
                </a:solidFill>
              </a:defRPr>
            </a:lvl1pPr>
          </a:lstStyle>
          <a:p>
            <a:r>
              <a:rPr lang="en-US"/>
              <a:t>Traffic Predict via GPS and GT/Arash Astanboos/University of Bonn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49084" y="6381636"/>
            <a:ext cx="761915" cy="380943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1323">
                <a:solidFill>
                  <a:schemeClr val="accent1"/>
                </a:solidFill>
              </a:defRPr>
            </a:lvl1pPr>
          </a:lstStyle>
          <a:p>
            <a:fld id="{527F1E04-A1A3-475C-A843-CFD0985386EF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30" name="Gruppieren 29"/>
          <p:cNvGrpSpPr>
            <a:grpSpLocks noChangeAspect="1"/>
          </p:cNvGrpSpPr>
          <p:nvPr/>
        </p:nvGrpSpPr>
        <p:grpSpPr>
          <a:xfrm>
            <a:off x="381003" y="381211"/>
            <a:ext cx="2230877" cy="857122"/>
            <a:chOff x="7081838" y="144463"/>
            <a:chExt cx="1871662" cy="719137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7081838" y="144463"/>
              <a:ext cx="1871662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1" name="Freeform 5"/>
            <p:cNvSpPr>
              <a:spLocks/>
            </p:cNvSpPr>
            <p:nvPr userDrawn="1"/>
          </p:nvSpPr>
          <p:spPr bwMode="auto">
            <a:xfrm>
              <a:off x="8216900" y="144463"/>
              <a:ext cx="455612" cy="392112"/>
            </a:xfrm>
            <a:custGeom>
              <a:avLst/>
              <a:gdLst>
                <a:gd name="T0" fmla="*/ 944 w 1277"/>
                <a:gd name="T1" fmla="*/ 552 h 1104"/>
                <a:gd name="T2" fmla="*/ 1277 w 1277"/>
                <a:gd name="T3" fmla="*/ 0 h 1104"/>
                <a:gd name="T4" fmla="*/ 0 w 1277"/>
                <a:gd name="T5" fmla="*/ 0 h 1104"/>
                <a:gd name="T6" fmla="*/ 0 w 1277"/>
                <a:gd name="T7" fmla="*/ 1104 h 1104"/>
                <a:gd name="T8" fmla="*/ 944 w 1277"/>
                <a:gd name="T9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8216900" y="654050"/>
              <a:ext cx="714375" cy="200025"/>
            </a:xfrm>
            <a:prstGeom prst="rect">
              <a:avLst/>
            </a:prstGeom>
            <a:solidFill>
              <a:srgbClr val="EAB9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8216900" y="144463"/>
              <a:ext cx="714375" cy="477837"/>
            </a:xfrm>
            <a:custGeom>
              <a:avLst/>
              <a:gdLst>
                <a:gd name="T0" fmla="*/ 2000 w 2000"/>
                <a:gd name="T1" fmla="*/ 0 h 1349"/>
                <a:gd name="T2" fmla="*/ 1361 w 2000"/>
                <a:gd name="T3" fmla="*/ 0 h 1349"/>
                <a:gd name="T4" fmla="*/ 992 w 2000"/>
                <a:gd name="T5" fmla="*/ 627 h 1349"/>
                <a:gd name="T6" fmla="*/ 0 w 2000"/>
                <a:gd name="T7" fmla="*/ 1193 h 1349"/>
                <a:gd name="T8" fmla="*/ 0 w 2000"/>
                <a:gd name="T9" fmla="*/ 1349 h 1349"/>
                <a:gd name="T10" fmla="*/ 2000 w 2000"/>
                <a:gd name="T11" fmla="*/ 1349 h 1349"/>
                <a:gd name="T12" fmla="*/ 2000 w 2000"/>
                <a:gd name="T13" fmla="*/ 0 h 1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8250238" y="690563"/>
              <a:ext cx="95250" cy="131762"/>
            </a:xfrm>
            <a:custGeom>
              <a:avLst/>
              <a:gdLst>
                <a:gd name="T0" fmla="*/ 134 w 264"/>
                <a:gd name="T1" fmla="*/ 318 h 371"/>
                <a:gd name="T2" fmla="*/ 198 w 264"/>
                <a:gd name="T3" fmla="*/ 265 h 371"/>
                <a:gd name="T4" fmla="*/ 132 w 264"/>
                <a:gd name="T5" fmla="*/ 203 h 371"/>
                <a:gd name="T6" fmla="*/ 65 w 264"/>
                <a:gd name="T7" fmla="*/ 203 h 371"/>
                <a:gd name="T8" fmla="*/ 65 w 264"/>
                <a:gd name="T9" fmla="*/ 318 h 371"/>
                <a:gd name="T10" fmla="*/ 134 w 264"/>
                <a:gd name="T11" fmla="*/ 318 h 371"/>
                <a:gd name="T12" fmla="*/ 65 w 264"/>
                <a:gd name="T13" fmla="*/ 53 h 371"/>
                <a:gd name="T14" fmla="*/ 65 w 264"/>
                <a:gd name="T15" fmla="*/ 155 h 371"/>
                <a:gd name="T16" fmla="*/ 131 w 264"/>
                <a:gd name="T17" fmla="*/ 155 h 371"/>
                <a:gd name="T18" fmla="*/ 190 w 264"/>
                <a:gd name="T19" fmla="*/ 103 h 371"/>
                <a:gd name="T20" fmla="*/ 126 w 264"/>
                <a:gd name="T21" fmla="*/ 53 h 371"/>
                <a:gd name="T22" fmla="*/ 65 w 264"/>
                <a:gd name="T23" fmla="*/ 53 h 371"/>
                <a:gd name="T24" fmla="*/ 191 w 264"/>
                <a:gd name="T25" fmla="*/ 180 h 371"/>
                <a:gd name="T26" fmla="*/ 264 w 264"/>
                <a:gd name="T27" fmla="*/ 277 h 371"/>
                <a:gd name="T28" fmla="*/ 145 w 264"/>
                <a:gd name="T29" fmla="*/ 371 h 371"/>
                <a:gd name="T30" fmla="*/ 0 w 264"/>
                <a:gd name="T31" fmla="*/ 367 h 371"/>
                <a:gd name="T32" fmla="*/ 0 w 264"/>
                <a:gd name="T33" fmla="*/ 4 h 371"/>
                <a:gd name="T34" fmla="*/ 129 w 264"/>
                <a:gd name="T35" fmla="*/ 0 h 371"/>
                <a:gd name="T36" fmla="*/ 253 w 264"/>
                <a:gd name="T37" fmla="*/ 95 h 371"/>
                <a:gd name="T38" fmla="*/ 191 w 264"/>
                <a:gd name="T39" fmla="*/ 178 h 371"/>
                <a:gd name="T40" fmla="*/ 191 w 264"/>
                <a:gd name="T41" fmla="*/ 18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6" name="Freeform 9"/>
            <p:cNvSpPr>
              <a:spLocks noEditPoints="1"/>
            </p:cNvSpPr>
            <p:nvPr userDrawn="1"/>
          </p:nvSpPr>
          <p:spPr bwMode="auto">
            <a:xfrm>
              <a:off x="8364538" y="688975"/>
              <a:ext cx="106362" cy="133350"/>
            </a:xfrm>
            <a:custGeom>
              <a:avLst/>
              <a:gdLst>
                <a:gd name="T0" fmla="*/ 69 w 299"/>
                <a:gd name="T1" fmla="*/ 188 h 376"/>
                <a:gd name="T2" fmla="*/ 149 w 299"/>
                <a:gd name="T3" fmla="*/ 320 h 376"/>
                <a:gd name="T4" fmla="*/ 230 w 299"/>
                <a:gd name="T5" fmla="*/ 188 h 376"/>
                <a:gd name="T6" fmla="*/ 149 w 299"/>
                <a:gd name="T7" fmla="*/ 56 h 376"/>
                <a:gd name="T8" fmla="*/ 69 w 299"/>
                <a:gd name="T9" fmla="*/ 188 h 376"/>
                <a:gd name="T10" fmla="*/ 299 w 299"/>
                <a:gd name="T11" fmla="*/ 188 h 376"/>
                <a:gd name="T12" fmla="*/ 149 w 299"/>
                <a:gd name="T13" fmla="*/ 376 h 376"/>
                <a:gd name="T14" fmla="*/ 0 w 299"/>
                <a:gd name="T15" fmla="*/ 188 h 376"/>
                <a:gd name="T16" fmla="*/ 149 w 299"/>
                <a:gd name="T17" fmla="*/ 0 h 376"/>
                <a:gd name="T18" fmla="*/ 299 w 299"/>
                <a:gd name="T19" fmla="*/ 18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849630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2 w 295"/>
                <a:gd name="T7" fmla="*/ 343 h 363"/>
                <a:gd name="T8" fmla="*/ 90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4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8629650" y="692150"/>
              <a:ext cx="104775" cy="128587"/>
            </a:xfrm>
            <a:custGeom>
              <a:avLst/>
              <a:gdLst>
                <a:gd name="T0" fmla="*/ 295 w 295"/>
                <a:gd name="T1" fmla="*/ 339 h 363"/>
                <a:gd name="T2" fmla="*/ 271 w 295"/>
                <a:gd name="T3" fmla="*/ 363 h 363"/>
                <a:gd name="T4" fmla="*/ 219 w 295"/>
                <a:gd name="T5" fmla="*/ 363 h 363"/>
                <a:gd name="T6" fmla="*/ 191 w 295"/>
                <a:gd name="T7" fmla="*/ 343 h 363"/>
                <a:gd name="T8" fmla="*/ 89 w 295"/>
                <a:gd name="T9" fmla="*/ 121 h 363"/>
                <a:gd name="T10" fmla="*/ 68 w 295"/>
                <a:gd name="T11" fmla="*/ 67 h 363"/>
                <a:gd name="T12" fmla="*/ 62 w 295"/>
                <a:gd name="T13" fmla="*/ 67 h 363"/>
                <a:gd name="T14" fmla="*/ 65 w 295"/>
                <a:gd name="T15" fmla="*/ 121 h 363"/>
                <a:gd name="T16" fmla="*/ 65 w 295"/>
                <a:gd name="T17" fmla="*/ 363 h 363"/>
                <a:gd name="T18" fmla="*/ 0 w 295"/>
                <a:gd name="T19" fmla="*/ 363 h 363"/>
                <a:gd name="T20" fmla="*/ 0 w 295"/>
                <a:gd name="T21" fmla="*/ 25 h 363"/>
                <a:gd name="T22" fmla="*/ 25 w 295"/>
                <a:gd name="T23" fmla="*/ 0 h 363"/>
                <a:gd name="T24" fmla="*/ 76 w 295"/>
                <a:gd name="T25" fmla="*/ 0 h 363"/>
                <a:gd name="T26" fmla="*/ 103 w 295"/>
                <a:gd name="T27" fmla="*/ 20 h 363"/>
                <a:gd name="T28" fmla="*/ 202 w 295"/>
                <a:gd name="T29" fmla="*/ 237 h 363"/>
                <a:gd name="T30" fmla="*/ 227 w 295"/>
                <a:gd name="T31" fmla="*/ 294 h 363"/>
                <a:gd name="T32" fmla="*/ 233 w 295"/>
                <a:gd name="T33" fmla="*/ 294 h 363"/>
                <a:gd name="T34" fmla="*/ 231 w 295"/>
                <a:gd name="T35" fmla="*/ 235 h 363"/>
                <a:gd name="T36" fmla="*/ 231 w 295"/>
                <a:gd name="T37" fmla="*/ 0 h 363"/>
                <a:gd name="T38" fmla="*/ 295 w 295"/>
                <a:gd name="T39" fmla="*/ 0 h 363"/>
                <a:gd name="T40" fmla="*/ 295 w 295"/>
                <a:gd name="T41" fmla="*/ 339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7081838" y="695058"/>
              <a:ext cx="95250" cy="130175"/>
            </a:xfrm>
            <a:custGeom>
              <a:avLst/>
              <a:gdLst>
                <a:gd name="T0" fmla="*/ 267 w 267"/>
                <a:gd name="T1" fmla="*/ 223 h 370"/>
                <a:gd name="T2" fmla="*/ 136 w 267"/>
                <a:gd name="T3" fmla="*/ 370 h 370"/>
                <a:gd name="T4" fmla="*/ 0 w 267"/>
                <a:gd name="T5" fmla="*/ 223 h 370"/>
                <a:gd name="T6" fmla="*/ 0 w 267"/>
                <a:gd name="T7" fmla="*/ 0 h 370"/>
                <a:gd name="T8" fmla="*/ 53 w 267"/>
                <a:gd name="T9" fmla="*/ 0 h 370"/>
                <a:gd name="T10" fmla="*/ 53 w 267"/>
                <a:gd name="T11" fmla="*/ 223 h 370"/>
                <a:gd name="T12" fmla="*/ 134 w 267"/>
                <a:gd name="T13" fmla="*/ 323 h 370"/>
                <a:gd name="T14" fmla="*/ 215 w 267"/>
                <a:gd name="T15" fmla="*/ 223 h 370"/>
                <a:gd name="T16" fmla="*/ 215 w 267"/>
                <a:gd name="T17" fmla="*/ 0 h 370"/>
                <a:gd name="T18" fmla="*/ 267 w 267"/>
                <a:gd name="T19" fmla="*/ 0 h 370"/>
                <a:gd name="T20" fmla="*/ 267 w 267"/>
                <a:gd name="T21" fmla="*/ 223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7207250" y="695058"/>
              <a:ext cx="101600" cy="128587"/>
            </a:xfrm>
            <a:custGeom>
              <a:avLst/>
              <a:gdLst>
                <a:gd name="T0" fmla="*/ 284 w 284"/>
                <a:gd name="T1" fmla="*/ 343 h 363"/>
                <a:gd name="T2" fmla="*/ 265 w 284"/>
                <a:gd name="T3" fmla="*/ 363 h 363"/>
                <a:gd name="T4" fmla="*/ 215 w 284"/>
                <a:gd name="T5" fmla="*/ 363 h 363"/>
                <a:gd name="T6" fmla="*/ 192 w 284"/>
                <a:gd name="T7" fmla="*/ 347 h 363"/>
                <a:gd name="T8" fmla="*/ 79 w 284"/>
                <a:gd name="T9" fmla="*/ 100 h 363"/>
                <a:gd name="T10" fmla="*/ 57 w 284"/>
                <a:gd name="T11" fmla="*/ 49 h 363"/>
                <a:gd name="T12" fmla="*/ 50 w 284"/>
                <a:gd name="T13" fmla="*/ 49 h 363"/>
                <a:gd name="T14" fmla="*/ 53 w 284"/>
                <a:gd name="T15" fmla="*/ 100 h 363"/>
                <a:gd name="T16" fmla="*/ 53 w 284"/>
                <a:gd name="T17" fmla="*/ 363 h 363"/>
                <a:gd name="T18" fmla="*/ 0 w 284"/>
                <a:gd name="T19" fmla="*/ 363 h 363"/>
                <a:gd name="T20" fmla="*/ 0 w 284"/>
                <a:gd name="T21" fmla="*/ 21 h 363"/>
                <a:gd name="T22" fmla="*/ 20 w 284"/>
                <a:gd name="T23" fmla="*/ 0 h 363"/>
                <a:gd name="T24" fmla="*/ 68 w 284"/>
                <a:gd name="T25" fmla="*/ 0 h 363"/>
                <a:gd name="T26" fmla="*/ 92 w 284"/>
                <a:gd name="T27" fmla="*/ 17 h 363"/>
                <a:gd name="T28" fmla="*/ 202 w 284"/>
                <a:gd name="T29" fmla="*/ 257 h 363"/>
                <a:gd name="T30" fmla="*/ 227 w 284"/>
                <a:gd name="T31" fmla="*/ 312 h 363"/>
                <a:gd name="T32" fmla="*/ 235 w 284"/>
                <a:gd name="T33" fmla="*/ 312 h 363"/>
                <a:gd name="T34" fmla="*/ 232 w 284"/>
                <a:gd name="T35" fmla="*/ 255 h 363"/>
                <a:gd name="T36" fmla="*/ 232 w 284"/>
                <a:gd name="T37" fmla="*/ 0 h 363"/>
                <a:gd name="T38" fmla="*/ 284 w 284"/>
                <a:gd name="T39" fmla="*/ 0 h 363"/>
                <a:gd name="T40" fmla="*/ 284 w 284"/>
                <a:gd name="T41" fmla="*/ 34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1" name="Rectangle 14"/>
            <p:cNvSpPr>
              <a:spLocks noChangeArrowheads="1"/>
            </p:cNvSpPr>
            <p:nvPr userDrawn="1"/>
          </p:nvSpPr>
          <p:spPr bwMode="auto">
            <a:xfrm>
              <a:off x="7340600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7378701" y="695058"/>
              <a:ext cx="109537" cy="128587"/>
            </a:xfrm>
            <a:custGeom>
              <a:avLst/>
              <a:gdLst>
                <a:gd name="T0" fmla="*/ 199 w 306"/>
                <a:gd name="T1" fmla="*/ 348 h 363"/>
                <a:gd name="T2" fmla="*/ 179 w 306"/>
                <a:gd name="T3" fmla="*/ 363 h 363"/>
                <a:gd name="T4" fmla="*/ 128 w 306"/>
                <a:gd name="T5" fmla="*/ 363 h 363"/>
                <a:gd name="T6" fmla="*/ 108 w 306"/>
                <a:gd name="T7" fmla="*/ 348 h 363"/>
                <a:gd name="T8" fmla="*/ 0 w 306"/>
                <a:gd name="T9" fmla="*/ 0 h 363"/>
                <a:gd name="T10" fmla="*/ 55 w 306"/>
                <a:gd name="T11" fmla="*/ 0 h 363"/>
                <a:gd name="T12" fmla="*/ 137 w 306"/>
                <a:gd name="T13" fmla="*/ 283 h 363"/>
                <a:gd name="T14" fmla="*/ 147 w 306"/>
                <a:gd name="T15" fmla="*/ 323 h 363"/>
                <a:gd name="T16" fmla="*/ 161 w 306"/>
                <a:gd name="T17" fmla="*/ 323 h 363"/>
                <a:gd name="T18" fmla="*/ 171 w 306"/>
                <a:gd name="T19" fmla="*/ 283 h 363"/>
                <a:gd name="T20" fmla="*/ 252 w 306"/>
                <a:gd name="T21" fmla="*/ 0 h 363"/>
                <a:gd name="T22" fmla="*/ 306 w 306"/>
                <a:gd name="T23" fmla="*/ 0 h 363"/>
                <a:gd name="T24" fmla="*/ 199 w 306"/>
                <a:gd name="T25" fmla="*/ 34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7505700" y="695058"/>
              <a:ext cx="80962" cy="128587"/>
            </a:xfrm>
            <a:custGeom>
              <a:avLst/>
              <a:gdLst>
                <a:gd name="T0" fmla="*/ 228 w 228"/>
                <a:gd name="T1" fmla="*/ 361 h 365"/>
                <a:gd name="T2" fmla="*/ 73 w 228"/>
                <a:gd name="T3" fmla="*/ 365 h 365"/>
                <a:gd name="T4" fmla="*/ 0 w 228"/>
                <a:gd name="T5" fmla="*/ 300 h 365"/>
                <a:gd name="T6" fmla="*/ 0 w 228"/>
                <a:gd name="T7" fmla="*/ 65 h 365"/>
                <a:gd name="T8" fmla="*/ 73 w 228"/>
                <a:gd name="T9" fmla="*/ 0 h 365"/>
                <a:gd name="T10" fmla="*/ 228 w 228"/>
                <a:gd name="T11" fmla="*/ 4 h 365"/>
                <a:gd name="T12" fmla="*/ 226 w 228"/>
                <a:gd name="T13" fmla="*/ 45 h 365"/>
                <a:gd name="T14" fmla="*/ 82 w 228"/>
                <a:gd name="T15" fmla="*/ 45 h 365"/>
                <a:gd name="T16" fmla="*/ 53 w 228"/>
                <a:gd name="T17" fmla="*/ 79 h 365"/>
                <a:gd name="T18" fmla="*/ 53 w 228"/>
                <a:gd name="T19" fmla="*/ 152 h 365"/>
                <a:gd name="T20" fmla="*/ 206 w 228"/>
                <a:gd name="T21" fmla="*/ 152 h 365"/>
                <a:gd name="T22" fmla="*/ 206 w 228"/>
                <a:gd name="T23" fmla="*/ 194 h 365"/>
                <a:gd name="T24" fmla="*/ 53 w 228"/>
                <a:gd name="T25" fmla="*/ 194 h 365"/>
                <a:gd name="T26" fmla="*/ 53 w 228"/>
                <a:gd name="T27" fmla="*/ 287 h 365"/>
                <a:gd name="T28" fmla="*/ 82 w 228"/>
                <a:gd name="T29" fmla="*/ 321 h 365"/>
                <a:gd name="T30" fmla="*/ 226 w 228"/>
                <a:gd name="T31" fmla="*/ 321 h 365"/>
                <a:gd name="T32" fmla="*/ 228 w 228"/>
                <a:gd name="T33" fmla="*/ 36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4" name="Freeform 17"/>
            <p:cNvSpPr>
              <a:spLocks noEditPoints="1"/>
            </p:cNvSpPr>
            <p:nvPr userDrawn="1"/>
          </p:nvSpPr>
          <p:spPr bwMode="auto">
            <a:xfrm>
              <a:off x="7612063" y="693471"/>
              <a:ext cx="92075" cy="130175"/>
            </a:xfrm>
            <a:custGeom>
              <a:avLst/>
              <a:gdLst>
                <a:gd name="T0" fmla="*/ 126 w 260"/>
                <a:gd name="T1" fmla="*/ 173 h 367"/>
                <a:gd name="T2" fmla="*/ 194 w 260"/>
                <a:gd name="T3" fmla="*/ 108 h 367"/>
                <a:gd name="T4" fmla="*/ 126 w 260"/>
                <a:gd name="T5" fmla="*/ 45 h 367"/>
                <a:gd name="T6" fmla="*/ 52 w 260"/>
                <a:gd name="T7" fmla="*/ 45 h 367"/>
                <a:gd name="T8" fmla="*/ 52 w 260"/>
                <a:gd name="T9" fmla="*/ 173 h 367"/>
                <a:gd name="T10" fmla="*/ 126 w 260"/>
                <a:gd name="T11" fmla="*/ 173 h 367"/>
                <a:gd name="T12" fmla="*/ 204 w 260"/>
                <a:gd name="T13" fmla="*/ 367 h 367"/>
                <a:gd name="T14" fmla="*/ 173 w 260"/>
                <a:gd name="T15" fmla="*/ 254 h 367"/>
                <a:gd name="T16" fmla="*/ 127 w 260"/>
                <a:gd name="T17" fmla="*/ 218 h 367"/>
                <a:gd name="T18" fmla="*/ 52 w 260"/>
                <a:gd name="T19" fmla="*/ 217 h 367"/>
                <a:gd name="T20" fmla="*/ 52 w 260"/>
                <a:gd name="T21" fmla="*/ 367 h 367"/>
                <a:gd name="T22" fmla="*/ 0 w 260"/>
                <a:gd name="T23" fmla="*/ 367 h 367"/>
                <a:gd name="T24" fmla="*/ 0 w 260"/>
                <a:gd name="T25" fmla="*/ 4 h 367"/>
                <a:gd name="T26" fmla="*/ 127 w 260"/>
                <a:gd name="T27" fmla="*/ 0 h 367"/>
                <a:gd name="T28" fmla="*/ 247 w 260"/>
                <a:gd name="T29" fmla="*/ 105 h 367"/>
                <a:gd name="T30" fmla="*/ 180 w 260"/>
                <a:gd name="T31" fmla="*/ 197 h 367"/>
                <a:gd name="T32" fmla="*/ 180 w 260"/>
                <a:gd name="T33" fmla="*/ 200 h 367"/>
                <a:gd name="T34" fmla="*/ 226 w 260"/>
                <a:gd name="T35" fmla="*/ 252 h 367"/>
                <a:gd name="T36" fmla="*/ 260 w 260"/>
                <a:gd name="T37" fmla="*/ 367 h 367"/>
                <a:gd name="T38" fmla="*/ 204 w 260"/>
                <a:gd name="T3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723188" y="691883"/>
              <a:ext cx="85725" cy="133350"/>
            </a:xfrm>
            <a:custGeom>
              <a:avLst/>
              <a:gdLst>
                <a:gd name="T0" fmla="*/ 229 w 243"/>
                <a:gd name="T1" fmla="*/ 11 h 375"/>
                <a:gd name="T2" fmla="*/ 226 w 243"/>
                <a:gd name="T3" fmla="*/ 49 h 375"/>
                <a:gd name="T4" fmla="*/ 122 w 243"/>
                <a:gd name="T5" fmla="*/ 47 h 375"/>
                <a:gd name="T6" fmla="*/ 53 w 243"/>
                <a:gd name="T7" fmla="*/ 97 h 375"/>
                <a:gd name="T8" fmla="*/ 97 w 243"/>
                <a:gd name="T9" fmla="*/ 152 h 375"/>
                <a:gd name="T10" fmla="*/ 169 w 243"/>
                <a:gd name="T11" fmla="*/ 172 h 375"/>
                <a:gd name="T12" fmla="*/ 243 w 243"/>
                <a:gd name="T13" fmla="*/ 276 h 375"/>
                <a:gd name="T14" fmla="*/ 119 w 243"/>
                <a:gd name="T15" fmla="*/ 375 h 375"/>
                <a:gd name="T16" fmla="*/ 5 w 243"/>
                <a:gd name="T17" fmla="*/ 365 h 375"/>
                <a:gd name="T18" fmla="*/ 9 w 243"/>
                <a:gd name="T19" fmla="*/ 326 h 375"/>
                <a:gd name="T20" fmla="*/ 120 w 243"/>
                <a:gd name="T21" fmla="*/ 329 h 375"/>
                <a:gd name="T22" fmla="*/ 189 w 243"/>
                <a:gd name="T23" fmla="*/ 275 h 375"/>
                <a:gd name="T24" fmla="*/ 146 w 243"/>
                <a:gd name="T25" fmla="*/ 219 h 375"/>
                <a:gd name="T26" fmla="*/ 72 w 243"/>
                <a:gd name="T27" fmla="*/ 199 h 375"/>
                <a:gd name="T28" fmla="*/ 0 w 243"/>
                <a:gd name="T29" fmla="*/ 96 h 375"/>
                <a:gd name="T30" fmla="*/ 120 w 243"/>
                <a:gd name="T31" fmla="*/ 0 h 375"/>
                <a:gd name="T32" fmla="*/ 229 w 243"/>
                <a:gd name="T33" fmla="*/ 1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6" name="Rectangle 19"/>
            <p:cNvSpPr>
              <a:spLocks noChangeArrowheads="1"/>
            </p:cNvSpPr>
            <p:nvPr userDrawn="1"/>
          </p:nvSpPr>
          <p:spPr bwMode="auto">
            <a:xfrm>
              <a:off x="7834312" y="695058"/>
              <a:ext cx="19050" cy="128587"/>
            </a:xfrm>
            <a:prstGeom prst="rect">
              <a:avLst/>
            </a:pr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7" name="Freeform 20"/>
            <p:cNvSpPr>
              <a:spLocks/>
            </p:cNvSpPr>
            <p:nvPr userDrawn="1"/>
          </p:nvSpPr>
          <p:spPr bwMode="auto">
            <a:xfrm>
              <a:off x="7872413" y="695058"/>
              <a:ext cx="101600" cy="128587"/>
            </a:xfrm>
            <a:custGeom>
              <a:avLst/>
              <a:gdLst>
                <a:gd name="T0" fmla="*/ 168 w 283"/>
                <a:gd name="T1" fmla="*/ 47 h 363"/>
                <a:gd name="T2" fmla="*/ 168 w 283"/>
                <a:gd name="T3" fmla="*/ 363 h 363"/>
                <a:gd name="T4" fmla="*/ 114 w 283"/>
                <a:gd name="T5" fmla="*/ 363 h 363"/>
                <a:gd name="T6" fmla="*/ 114 w 283"/>
                <a:gd name="T7" fmla="*/ 47 h 363"/>
                <a:gd name="T8" fmla="*/ 0 w 283"/>
                <a:gd name="T9" fmla="*/ 47 h 363"/>
                <a:gd name="T10" fmla="*/ 0 w 283"/>
                <a:gd name="T11" fmla="*/ 0 h 363"/>
                <a:gd name="T12" fmla="*/ 283 w 283"/>
                <a:gd name="T13" fmla="*/ 0 h 363"/>
                <a:gd name="T14" fmla="*/ 283 w 283"/>
                <a:gd name="T15" fmla="*/ 47 h 363"/>
                <a:gd name="T16" fmla="*/ 168 w 283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8" name="Freeform 21"/>
            <p:cNvSpPr>
              <a:spLocks noEditPoints="1"/>
            </p:cNvSpPr>
            <p:nvPr userDrawn="1"/>
          </p:nvSpPr>
          <p:spPr bwMode="auto">
            <a:xfrm>
              <a:off x="7969250" y="660133"/>
              <a:ext cx="114299" cy="163512"/>
            </a:xfrm>
            <a:custGeom>
              <a:avLst/>
              <a:gdLst>
                <a:gd name="T0" fmla="*/ 199 w 321"/>
                <a:gd name="T1" fmla="*/ 57 h 459"/>
                <a:gd name="T2" fmla="*/ 185 w 321"/>
                <a:gd name="T3" fmla="*/ 43 h 459"/>
                <a:gd name="T4" fmla="*/ 185 w 321"/>
                <a:gd name="T5" fmla="*/ 14 h 459"/>
                <a:gd name="T6" fmla="*/ 199 w 321"/>
                <a:gd name="T7" fmla="*/ 0 h 459"/>
                <a:gd name="T8" fmla="*/ 215 w 321"/>
                <a:gd name="T9" fmla="*/ 0 h 459"/>
                <a:gd name="T10" fmla="*/ 230 w 321"/>
                <a:gd name="T11" fmla="*/ 14 h 459"/>
                <a:gd name="T12" fmla="*/ 230 w 321"/>
                <a:gd name="T13" fmla="*/ 43 h 459"/>
                <a:gd name="T14" fmla="*/ 215 w 321"/>
                <a:gd name="T15" fmla="*/ 57 h 459"/>
                <a:gd name="T16" fmla="*/ 199 w 321"/>
                <a:gd name="T17" fmla="*/ 57 h 459"/>
                <a:gd name="T18" fmla="*/ 176 w 321"/>
                <a:gd name="T19" fmla="*/ 166 h 459"/>
                <a:gd name="T20" fmla="*/ 167 w 321"/>
                <a:gd name="T21" fmla="*/ 137 h 459"/>
                <a:gd name="T22" fmla="*/ 153 w 321"/>
                <a:gd name="T23" fmla="*/ 137 h 459"/>
                <a:gd name="T24" fmla="*/ 144 w 321"/>
                <a:gd name="T25" fmla="*/ 166 h 459"/>
                <a:gd name="T26" fmla="*/ 102 w 321"/>
                <a:gd name="T27" fmla="*/ 304 h 459"/>
                <a:gd name="T28" fmla="*/ 218 w 321"/>
                <a:gd name="T29" fmla="*/ 304 h 459"/>
                <a:gd name="T30" fmla="*/ 176 w 321"/>
                <a:gd name="T31" fmla="*/ 166 h 459"/>
                <a:gd name="T32" fmla="*/ 105 w 321"/>
                <a:gd name="T33" fmla="*/ 57 h 459"/>
                <a:gd name="T34" fmla="*/ 92 w 321"/>
                <a:gd name="T35" fmla="*/ 43 h 459"/>
                <a:gd name="T36" fmla="*/ 92 w 321"/>
                <a:gd name="T37" fmla="*/ 14 h 459"/>
                <a:gd name="T38" fmla="*/ 105 w 321"/>
                <a:gd name="T39" fmla="*/ 0 h 459"/>
                <a:gd name="T40" fmla="*/ 122 w 321"/>
                <a:gd name="T41" fmla="*/ 0 h 459"/>
                <a:gd name="T42" fmla="*/ 136 w 321"/>
                <a:gd name="T43" fmla="*/ 14 h 459"/>
                <a:gd name="T44" fmla="*/ 136 w 321"/>
                <a:gd name="T45" fmla="*/ 43 h 459"/>
                <a:gd name="T46" fmla="*/ 122 w 321"/>
                <a:gd name="T47" fmla="*/ 57 h 459"/>
                <a:gd name="T48" fmla="*/ 105 w 321"/>
                <a:gd name="T49" fmla="*/ 57 h 459"/>
                <a:gd name="T50" fmla="*/ 88 w 321"/>
                <a:gd name="T51" fmla="*/ 350 h 459"/>
                <a:gd name="T52" fmla="*/ 54 w 321"/>
                <a:gd name="T53" fmla="*/ 459 h 459"/>
                <a:gd name="T54" fmla="*/ 0 w 321"/>
                <a:gd name="T55" fmla="*/ 459 h 459"/>
                <a:gd name="T56" fmla="*/ 114 w 321"/>
                <a:gd name="T57" fmla="*/ 110 h 459"/>
                <a:gd name="T58" fmla="*/ 133 w 321"/>
                <a:gd name="T59" fmla="*/ 96 h 459"/>
                <a:gd name="T60" fmla="*/ 187 w 321"/>
                <a:gd name="T61" fmla="*/ 96 h 459"/>
                <a:gd name="T62" fmla="*/ 206 w 321"/>
                <a:gd name="T63" fmla="*/ 110 h 459"/>
                <a:gd name="T64" fmla="*/ 321 w 321"/>
                <a:gd name="T65" fmla="*/ 459 h 459"/>
                <a:gd name="T66" fmla="*/ 266 w 321"/>
                <a:gd name="T67" fmla="*/ 459 h 459"/>
                <a:gd name="T68" fmla="*/ 233 w 321"/>
                <a:gd name="T69" fmla="*/ 350 h 459"/>
                <a:gd name="T70" fmla="*/ 88 w 321"/>
                <a:gd name="T71" fmla="*/ 35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  <p:sp>
          <p:nvSpPr>
            <p:cNvPr id="29" name="Freeform 22"/>
            <p:cNvSpPr>
              <a:spLocks/>
            </p:cNvSpPr>
            <p:nvPr userDrawn="1"/>
          </p:nvSpPr>
          <p:spPr bwMode="auto">
            <a:xfrm>
              <a:off x="8078788" y="695058"/>
              <a:ext cx="100012" cy="128587"/>
            </a:xfrm>
            <a:custGeom>
              <a:avLst/>
              <a:gdLst>
                <a:gd name="T0" fmla="*/ 167 w 282"/>
                <a:gd name="T1" fmla="*/ 47 h 363"/>
                <a:gd name="T2" fmla="*/ 167 w 282"/>
                <a:gd name="T3" fmla="*/ 363 h 363"/>
                <a:gd name="T4" fmla="*/ 114 w 282"/>
                <a:gd name="T5" fmla="*/ 363 h 363"/>
                <a:gd name="T6" fmla="*/ 114 w 282"/>
                <a:gd name="T7" fmla="*/ 47 h 363"/>
                <a:gd name="T8" fmla="*/ 0 w 282"/>
                <a:gd name="T9" fmla="*/ 47 h 363"/>
                <a:gd name="T10" fmla="*/ 0 w 282"/>
                <a:gd name="T11" fmla="*/ 0 h 363"/>
                <a:gd name="T12" fmla="*/ 282 w 282"/>
                <a:gd name="T13" fmla="*/ 0 h 363"/>
                <a:gd name="T14" fmla="*/ 282 w 282"/>
                <a:gd name="T15" fmla="*/ 47 h 363"/>
                <a:gd name="T16" fmla="*/ 167 w 282"/>
                <a:gd name="T17" fmla="*/ 47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381"/>
            </a:p>
          </p:txBody>
        </p:sp>
      </p:grpSp>
      <p:cxnSp>
        <p:nvCxnSpPr>
          <p:cNvPr id="8" name="Gerade Verbindung 7"/>
          <p:cNvCxnSpPr/>
          <p:nvPr/>
        </p:nvCxnSpPr>
        <p:spPr>
          <a:xfrm>
            <a:off x="380082" y="6381636"/>
            <a:ext cx="1143183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48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1209477" rtl="0" eaLnBrk="1" latinLnBrk="0" hangingPunct="1">
        <a:lnSpc>
          <a:spcPts val="3439"/>
        </a:lnSpc>
        <a:spcBef>
          <a:spcPts val="794"/>
        </a:spcBef>
        <a:buNone/>
        <a:defRPr sz="3174" kern="1200" cap="all" baseline="0">
          <a:solidFill>
            <a:schemeClr val="accent3"/>
          </a:solidFill>
          <a:latin typeface="Exo 2 Semi Bold" pitchFamily="50" charset="0"/>
          <a:ea typeface="+mj-ea"/>
          <a:cs typeface="+mj-cs"/>
        </a:defRPr>
      </a:lvl1pPr>
    </p:titleStyle>
    <p:bodyStyle>
      <a:lvl1pPr marL="285703" indent="-285703" algn="l" defTabSz="1209477" rtl="0" eaLnBrk="1" latinLnBrk="0" hangingPunct="1">
        <a:spcBef>
          <a:spcPts val="794"/>
        </a:spcBef>
        <a:spcAft>
          <a:spcPts val="794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1pPr>
      <a:lvl2pPr marL="571406" indent="-285703" algn="l" defTabSz="1209477" rtl="0" eaLnBrk="1" latinLnBrk="0" hangingPunct="1">
        <a:spcBef>
          <a:spcPts val="794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2pPr>
      <a:lvl3pPr marL="857110" indent="-285703" algn="l" defTabSz="1209477" rtl="0" eaLnBrk="1" latinLnBrk="0" hangingPunct="1">
        <a:spcBef>
          <a:spcPts val="397"/>
        </a:spcBef>
        <a:spcAft>
          <a:spcPts val="397"/>
        </a:spcAft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42813" indent="-285703" algn="l" defTabSz="1209477" rtl="0" eaLnBrk="1" latinLnBrk="0" hangingPunct="1">
        <a:spcBef>
          <a:spcPts val="397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4pPr>
      <a:lvl5pPr marL="1428516" indent="-285703" algn="l" defTabSz="1209477" rtl="0" eaLnBrk="1" latinLnBrk="0" hangingPunct="1">
        <a:spcBef>
          <a:spcPts val="0"/>
        </a:spcBef>
        <a:buFont typeface="Calibri" panose="020F0502020204030204" pitchFamily="34" charset="0"/>
        <a:buChar char="−"/>
        <a:defRPr sz="2645" kern="1200">
          <a:solidFill>
            <a:schemeClr val="accent2"/>
          </a:solidFill>
          <a:latin typeface="+mn-lt"/>
          <a:ea typeface="+mn-ea"/>
          <a:cs typeface="+mn-cs"/>
        </a:defRPr>
      </a:lvl5pPr>
      <a:lvl6pPr marL="3326061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6pPr>
      <a:lvl7pPr marL="3930800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7pPr>
      <a:lvl8pPr marL="4535538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8pPr>
      <a:lvl9pPr marL="5140277" indent="-302369" algn="l" defTabSz="12094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60473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2pPr>
      <a:lvl3pPr marL="1209477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3pPr>
      <a:lvl4pPr marL="1814215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4pPr>
      <a:lvl5pPr marL="2418954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5pPr>
      <a:lvl6pPr marL="3023692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6pPr>
      <a:lvl7pPr marL="3628431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7pPr>
      <a:lvl8pPr marL="4233169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8pPr>
      <a:lvl9pPr marL="4837908" algn="l" defTabSz="1209477" rtl="0" eaLnBrk="1" latinLnBrk="0" hangingPunct="1">
        <a:defRPr sz="23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30150" y="2233714"/>
            <a:ext cx="6666759" cy="509665"/>
          </a:xfrm>
        </p:spPr>
        <p:txBody>
          <a:bodyPr/>
          <a:lstStyle/>
          <a:p>
            <a:r>
              <a:rPr lang="en-US" sz="3600" b="1" dirty="0"/>
              <a:t>Traffic Prediction using GNNs and</a:t>
            </a:r>
            <a:br>
              <a:rPr lang="en-US" sz="3600" b="1" dirty="0"/>
            </a:br>
            <a:r>
              <a:rPr lang="en-US" sz="3600" b="1" dirty="0"/>
              <a:t> Graph Transformers</a:t>
            </a:r>
            <a:endParaRPr lang="de-DE" sz="3600" dirty="0">
              <a:latin typeface="Arial Black" panose="020B0A0402010202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30150" y="2971059"/>
            <a:ext cx="7338713" cy="17144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Course</a:t>
            </a:r>
            <a:r>
              <a:rPr lang="en-US" sz="2000" dirty="0"/>
              <a:t>: MA-INF 4325 Lab Data Science in Practice: </a:t>
            </a:r>
            <a:r>
              <a:rPr lang="en-US" sz="2000" dirty="0" err="1"/>
              <a:t>Spatio</a:t>
            </a:r>
            <a:r>
              <a:rPr lang="en-US" sz="2000" dirty="0"/>
              <a:t>-Temporal Data Analytics, Summer Semester 2025</a:t>
            </a:r>
            <a:endParaRPr lang="de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09E49-E4EE-17AD-6EE1-87242FF6772B}"/>
              </a:ext>
            </a:extLst>
          </p:cNvPr>
          <p:cNvSpPr txBox="1"/>
          <p:nvPr/>
        </p:nvSpPr>
        <p:spPr>
          <a:xfrm>
            <a:off x="1230149" y="4248155"/>
            <a:ext cx="6666759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Team</a:t>
            </a:r>
            <a:r>
              <a:rPr kumimoji="0" lang="en-DE" alt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: </a:t>
            </a:r>
            <a:r>
              <a:rPr kumimoji="0" lang="en-DE" altLang="en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Hitik</a:t>
            </a:r>
            <a:r>
              <a:rPr kumimoji="0" lang="en-DE" alt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 Panchal, </a:t>
            </a:r>
            <a:r>
              <a:rPr kumimoji="0" lang="en-DE" altLang="en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Haofan</a:t>
            </a:r>
            <a:r>
              <a:rPr kumimoji="0" lang="en-DE" alt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 Wen, Arash Astanboos</a:t>
            </a:r>
            <a:endParaRPr kumimoji="0" lang="de-DE" altLang="en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altLang="en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altLang="en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My Role</a:t>
            </a:r>
            <a:r>
              <a:rPr kumimoji="0" lang="en-DE" alt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: Implemented and evaluated </a:t>
            </a:r>
            <a:r>
              <a:rPr kumimoji="0" lang="en-DE" altLang="en-D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GraphTransformer</a:t>
            </a:r>
            <a:r>
              <a:rPr kumimoji="0" lang="en-DE" altLang="en-D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 and GPS models</a:t>
            </a:r>
            <a:r>
              <a:rPr kumimoji="0" lang="en-DE" altLang="en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alibri"/>
              </a:rPr>
              <a:t> for traffic speed regression</a:t>
            </a:r>
            <a:endParaRPr kumimoji="0" lang="de-DE" altLang="en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DE" altLang="en-D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alibri"/>
            </a:endParaRPr>
          </a:p>
          <a:p>
            <a:r>
              <a:rPr lang="en-US" sz="2000" dirty="0"/>
              <a:t>Supervisor: </a:t>
            </a:r>
            <a:r>
              <a:rPr lang="de-DE" dirty="0"/>
              <a:t>Dr. Rajat Dadwal, Amitoz Azad</a:t>
            </a:r>
            <a:r>
              <a:rPr lang="de-DE" sz="2000" dirty="0"/>
              <a:t> </a:t>
            </a:r>
            <a:br>
              <a:rPr lang="de-DE" sz="2000" dirty="0"/>
            </a:br>
            <a:r>
              <a:rPr lang="en-US" sz="2000" dirty="0"/>
              <a:t>Date: July 2025</a:t>
            </a:r>
          </a:p>
          <a:p>
            <a:pPr marL="216000" indent="-216000">
              <a:spcAft>
                <a:spcPts val="420"/>
              </a:spcAft>
              <a:buFont typeface="Calibri" panose="020F0502020204030204" pitchFamily="34" charset="0"/>
              <a:buChar char="−"/>
            </a:pPr>
            <a:endParaRPr lang="en-DE" sz="2000" dirty="0" err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13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Introduction &amp; Problem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Traffic Forecasting: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Crucial for urban planning &amp; congestion management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E4D1071B-F811-409D-B7DB-3F949CB3463A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031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3FD8-2370-B5F9-4F29-24ABFFFD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5FD15-8C65-2078-0A5F-F570C12C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Introduction &amp;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BA54E9-92FC-75DD-E0A5-F3D54F6FB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Forecasting: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Crucial for urban planning &amp; congestion management.</a:t>
            </a:r>
          </a:p>
          <a:p>
            <a:r>
              <a:rPr lang="en-US" dirty="0"/>
              <a:t>Challenges: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Non-Euclidean road networks, complex </a:t>
            </a:r>
            <a:r>
              <a:rPr lang="en-US" dirty="0" err="1">
                <a:solidFill>
                  <a:schemeClr val="tx1"/>
                </a:solidFill>
              </a:rPr>
              <a:t>spatio</a:t>
            </a:r>
            <a:r>
              <a:rPr lang="en-US" dirty="0">
                <a:solidFill>
                  <a:schemeClr val="tx1"/>
                </a:solidFill>
              </a:rPr>
              <a:t>-temporal dependencies. Traditional DL struggles with irregular topology.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10D23-F050-81C0-167E-87AF37CA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99A2E16C-40F3-4253-B83A-ADDEC8A2ED4C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05ECDD-F18C-D5A5-508B-CD2F2D07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9A255A-CEE7-D3A6-7484-51D1BDA7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3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180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E50A-9E5D-3CFE-0322-CEF4CF8D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4588D0-D16B-2C48-BA2E-6BEF9A2E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Introduction &amp;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1D7FE8-2BDA-2B1B-226E-06399626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Forecasting: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Crucial for urban planning &amp; congestion management.</a:t>
            </a: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Challenges: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Non-Euclidean road networks, complex </a:t>
            </a:r>
            <a:r>
              <a:rPr lang="en-US" dirty="0" err="1">
                <a:solidFill>
                  <a:schemeClr val="tx2">
                    <a:lumMod val="65000"/>
                    <a:lumOff val="35000"/>
                  </a:schemeClr>
                </a:solidFill>
              </a:rPr>
              <a:t>spatio</a:t>
            </a: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-temporal dependencies. Traditional DL struggles with irregular topology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 Our Solution: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Graph Neural Networks (GNNs) and Transformer-based models capture spatial &amp; temporal dynamics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89CF5-CC12-60DB-34CD-93591F4C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372D3279-A8A1-4C5F-B22B-B07095EFBD11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0F7A4-5C26-AF29-3F13-57CB724E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4D7391-9A50-3A7A-F1FF-EE389C89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4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067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7D46-6D30-E4F6-00EF-A5EBEB00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249A0-4A25-9AC6-C547-490C59A6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Introduction &amp;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5B21DC-2E66-BD01-7AF4-74E461545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Project Scope: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Benchmarked five GNNs and three Transformer variants (</a:t>
            </a:r>
            <a:r>
              <a:rPr lang="en-US" dirty="0" err="1">
                <a:solidFill>
                  <a:schemeClr val="tx1"/>
                </a:solidFill>
              </a:rPr>
              <a:t>Graphormer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GraphTransformer</a:t>
            </a:r>
            <a:r>
              <a:rPr lang="en-US" dirty="0">
                <a:solidFill>
                  <a:schemeClr val="tx1"/>
                </a:solidFill>
              </a:rPr>
              <a:t>, GPS) on METR-LA &amp; PEMS-Bay. Explored custom adjacency matrices and temporal granularities.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B32FFC-2471-FA90-BE2C-5AF051BB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337848A4-6E75-46A1-B23D-380F8C025848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D3924-9972-BB61-387F-D8EA56B1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6948C8-C73D-DDB9-C755-81E7D692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670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65EE-595B-F411-E137-9C972812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7B54A-89D6-219B-3E3C-4ABFA292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Graph Transformers for Traffic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9E0BF-8996-C2C9-A47E-C4946AD6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Inspiration: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Success of Transformers in NLP/CV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53EF07-8B9F-2CD3-F6E0-059BB89B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D29867F0-B6F1-4469-9D77-ADB44D6A6558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C3C5D-37D5-BE9C-D64F-522851A7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727839-0C2A-607A-260E-3BAA936A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6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864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971A-62BF-4C88-FD85-CBB8CE70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BF913-000D-72AF-50BA-B892035A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Graph Transformers for Traffic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7E77FC-2F43-4D55-B0F5-986CB09AF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Inspiration: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Success of Transformers in NLP/CV</a:t>
            </a:r>
          </a:p>
          <a:p>
            <a:r>
              <a:rPr lang="en-US" dirty="0"/>
              <a:t> Core Idea: </a:t>
            </a:r>
            <a:b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Integrates self-attention with graph structures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3769B3-5646-A400-D45E-52F311FE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B2E89578-65DC-4CBD-A891-68B85191EDAA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56C835-2C6A-9E8C-0B10-8D790C68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11777-4437-9BCF-3829-0D12FEE1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7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381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9915-4DDC-E32F-A84F-AABD33CC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5A792-0D7D-CDC3-9044-C696C3C8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Graph Transformers for Traffic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D73B1D-4468-532E-9803-A9FE13691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Models: </a:t>
            </a:r>
            <a:br>
              <a:rPr lang="en-US" dirty="0"/>
            </a:br>
            <a:r>
              <a:rPr lang="en-US" dirty="0" err="1">
                <a:solidFill>
                  <a:schemeClr val="tx1"/>
                </a:solidFill>
              </a:rPr>
              <a:t>GraphTransformer</a:t>
            </a:r>
            <a:r>
              <a:rPr lang="en-US" dirty="0">
                <a:solidFill>
                  <a:schemeClr val="tx1"/>
                </a:solidFill>
              </a:rPr>
              <a:t> and GPS (General, Powerful, Scalable)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3FC600-B9D5-8E85-5090-D7690BB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7D5AC46-A35F-4E6C-BEED-C3123D94D965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FCFA66-EB4C-36B5-ABD4-32C96B47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51F013-9821-3290-3B3B-D1830D0C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8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1C9EEEC-334F-9E43-B583-2AC5D3859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89"/>
            <a:ext cx="3853940" cy="246221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My Models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: </a:t>
            </a:r>
            <a:r>
              <a:rPr kumimoji="0" lang="en-DE" altLang="en-DE" sz="1000" b="1" i="0" u="none" strike="noStrike" cap="none" normalizeH="0" baseline="0" dirty="0" err="1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GraphTansformer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 and </a:t>
            </a: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GPS (General, Powerful, Scalable)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22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D2A3-B924-44A6-5460-A08CAAA3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E21E4-D6D8-DC17-CAEA-0CA7068F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Graph Transformers for Traffic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6B9B9-67A4-9215-5FB9-BB1059624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My Models: </a:t>
            </a:r>
            <a:br>
              <a:rPr lang="en-US" dirty="0"/>
            </a:br>
            <a:r>
              <a:rPr lang="en-US" dirty="0" err="1">
                <a:solidFill>
                  <a:schemeClr val="tx2">
                    <a:lumMod val="65000"/>
                    <a:lumOff val="35000"/>
                  </a:schemeClr>
                </a:solidFill>
              </a:rPr>
              <a:t>GraphTransformer</a:t>
            </a: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and GPS (General, Powerful, Scalable)</a:t>
            </a:r>
          </a:p>
          <a:p>
            <a:pPr lvl="1"/>
            <a:r>
              <a:rPr lang="de-DE" dirty="0">
                <a:solidFill>
                  <a:schemeClr val="accent5"/>
                </a:solidFill>
              </a:rPr>
              <a:t>GraphTransformer: </a:t>
            </a:r>
            <a:r>
              <a:rPr lang="de-DE" dirty="0">
                <a:solidFill>
                  <a:schemeClr val="tx1"/>
                </a:solidFill>
              </a:rPr>
              <a:t>Generalises Transformers; uses edge-aware attention &amp; random walk positional encodings (RWPE)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Dwivedi, V.P., Bresson, X.: A generalization of transformer networks to graphs. </a:t>
            </a:r>
            <a:r>
              <a:rPr lang="en-US" sz="1400" dirty="0" err="1">
                <a:solidFill>
                  <a:schemeClr val="tx1"/>
                </a:solidFill>
              </a:rPr>
              <a:t>arXiv</a:t>
            </a:r>
            <a:r>
              <a:rPr lang="en-US" sz="1400" dirty="0">
                <a:solidFill>
                  <a:schemeClr val="tx1"/>
                </a:solidFill>
              </a:rPr>
              <a:t> preprint arXiv:2012.09699 (2021), https://arxiv.org/abs/2012.09699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448002-34B1-4956-C45E-59930384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85ABE08A-731F-4B4E-AC30-F890A29A0095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FA6529-CE44-A239-AF33-5C455FF5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76A287-DF12-E876-760F-E236B20A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9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2120CF1-1032-BD3C-51AC-04453B45C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89"/>
            <a:ext cx="3853940" cy="246221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My Models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: </a:t>
            </a:r>
            <a:r>
              <a:rPr kumimoji="0" lang="en-DE" altLang="en-DE" sz="1000" b="1" i="0" u="none" strike="noStrike" cap="none" normalizeH="0" baseline="0" dirty="0" err="1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GraphTansformer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 and </a:t>
            </a: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GPS (General, Powerful, Scalable)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4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1B26-C7F9-B5A7-7FA3-941CC1AB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15514-2A87-7787-324F-3A33C81E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Graph Transformers for Traffic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07103C-803F-F99B-CF9C-52F0D6366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My Models: </a:t>
            </a:r>
            <a:br>
              <a:rPr lang="en-US" dirty="0"/>
            </a:br>
            <a:r>
              <a:rPr lang="en-US" dirty="0" err="1">
                <a:solidFill>
                  <a:schemeClr val="tx2">
                    <a:lumMod val="65000"/>
                    <a:lumOff val="35000"/>
                  </a:schemeClr>
                </a:solidFill>
              </a:rPr>
              <a:t>GraphTransformer</a:t>
            </a:r>
            <a:r>
              <a:rPr 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and GPS (General, Powerful, Scalable)</a:t>
            </a:r>
          </a:p>
          <a:p>
            <a:pPr lvl="1"/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GraphTransformer: </a:t>
            </a:r>
            <a:r>
              <a:rPr lang="de-DE" dirty="0">
                <a:solidFill>
                  <a:schemeClr val="tx2">
                    <a:lumMod val="65000"/>
                    <a:lumOff val="35000"/>
                  </a:schemeClr>
                </a:solidFill>
              </a:rPr>
              <a:t>Generalises Transformers; uses edge-aware attention &amp; random walk positional encodings (RWPE)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GPS: </a:t>
            </a:r>
            <a:r>
              <a:rPr lang="en-US" dirty="0">
                <a:solidFill>
                  <a:schemeClr val="tx1"/>
                </a:solidFill>
              </a:rPr>
              <a:t>Hybrid architecture; combines local message passing (GNN layers) with global attention. Scales efficiently, preserves expressive power.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</a:rPr>
              <a:t>Rampášek, L., Galkin, M., Dwivedi, V.P., Wolf, T.: Recipe for a general, powerful, scalable graph transformer. Advances in Neural Information Processing Systems 35, 14501–14515 (2022)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4B5DAA-227B-C554-00A8-241C7D30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277FF7D8-2DCF-4338-8D47-1A2A34E34753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E3C62B-E3B1-96B8-162B-35F061A3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 dirty="0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 dirty="0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B0B94E-E4E9-E8FA-E650-0CC540D6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10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CA81F1A-97C0-6362-6E0C-77599081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89"/>
            <a:ext cx="3853940" cy="246221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My Models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: </a:t>
            </a:r>
            <a:r>
              <a:rPr kumimoji="0" lang="en-DE" altLang="en-DE" sz="1000" b="1" i="0" u="none" strike="noStrike" cap="none" normalizeH="0" baseline="0" dirty="0" err="1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GraphTansformer</a:t>
            </a:r>
            <a:r>
              <a:rPr kumimoji="0" lang="en-DE" altLang="en-DE" sz="10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 and </a:t>
            </a:r>
            <a:r>
              <a:rPr kumimoji="0" lang="en-DE" altLang="en-DE" sz="10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Google Sans Text"/>
              </a:rPr>
              <a:t>GPS (General, Powerful, Scalable)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9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6DB1-B49F-F3C1-299F-D1405ECC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280DC-3415-371D-B67E-9994A499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141CF4-4ABE-A1F0-E6DC-F7941586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Node-level traffic speed regression: predict next 12 time steps for each sensor</a:t>
            </a:r>
            <a:endParaRPr lang="de-DE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75D690-3B28-AAF3-E4EB-953BD207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9E7549AC-CBFF-43EB-88C5-2B27BA4CAF2D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AE463-2961-ED48-2C8B-576B1C51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0854E-F537-E0C2-C47A-36EC2640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11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5545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AD394-B148-3D30-ECDE-086F0A3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084C6-D9B8-B2F4-1ABB-FFC3DBDB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ACBAC1-A68B-1F5F-9376-182F7248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Task: 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Node-level traffic speed regression: predict next 12 time steps for each sensor</a:t>
            </a:r>
          </a:p>
          <a:p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/>
              <a:t>Input Features per Node 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(12 historical steps):</a:t>
            </a: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Traffic Speeds: Normalized historical speeds.</a:t>
            </a: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Time-of-Day Encoding: Cyclical sine/cosine features.</a:t>
            </a: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Node Degree: From </a:t>
            </a:r>
            <a:r>
              <a:rPr lang="en-US" sz="20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symmetrised</a:t>
            </a:r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adjacency matrix.</a:t>
            </a: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Positional Encoding: Random Walk Positional Encodings (RWPE), walk-   length 20</a:t>
            </a:r>
            <a:endParaRPr lang="de-DE" sz="20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01D920-3F30-4FA0-8017-9512CDEB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A684C7CC-84A8-42B5-AE27-968153C96D06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DCB2E6-5E9A-34FE-A19E-D31FE49E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8D4D37-348D-8F6C-0D76-514F8682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12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938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6E17-68D7-4085-808B-99004827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66903-C3C5-D7BE-F99E-43E97606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853D0A-5BA4-4FA6-1A3A-2EC4730E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Task: 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Node-level traffic speed regression: predict next 12 time steps for each sensor</a:t>
            </a:r>
          </a:p>
          <a:p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Input Features per Node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(12 historical steps):</a:t>
            </a:r>
          </a:p>
          <a:p>
            <a:r>
              <a:rPr lang="en-US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▪ Traffic Speeds: Normalized historical speeds.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▪ Time-of-Day Encoding: Cyclical sine/cosine features.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▪ Node Degree: From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symmetrised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adjacency matrix.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▪ Positional Encoding: Random Walk Positional Encodings (RWPE), walk-   length 20</a:t>
            </a:r>
          </a:p>
          <a:p>
            <a:r>
              <a:rPr lang="en-US" sz="2700" dirty="0"/>
              <a:t>Output: </a:t>
            </a:r>
            <a:r>
              <a:rPr lang="en-US" sz="2700" dirty="0">
                <a:solidFill>
                  <a:schemeClr val="tx1"/>
                </a:solidFill>
              </a:rPr>
              <a:t>Predicted speeds for N nodes over 12 future time steps (unscaled mph)</a:t>
            </a:r>
          </a:p>
          <a:p>
            <a:pPr marL="0" indent="0">
              <a:buNone/>
            </a:pPr>
            <a:endParaRPr lang="de-DE" sz="26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287E1F-5CDF-1999-4E5B-842FC24E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A684C7CC-84A8-42B5-AE27-968153C96D06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5590C-A527-4725-F4AE-2F572C95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56CC96-3932-C34A-0239-B6AF674F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13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995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D783-4004-E365-D912-DB26A0A9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0A2CD-3348-3879-9332-C30EAEFC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0F6830-F6D5-9F9E-9115-56D7E99A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Adjacency Matrices (</a:t>
            </a:r>
            <a:r>
              <a:rPr lang="en-US" dirty="0" err="1">
                <a:solidFill>
                  <a:schemeClr val="accent5"/>
                </a:solidFill>
              </a:rPr>
              <a:t>Symmetrised</a:t>
            </a:r>
            <a:r>
              <a:rPr lang="en-US" dirty="0">
                <a:solidFill>
                  <a:schemeClr val="accent5"/>
                </a:solidFill>
              </a:rPr>
              <a:t>)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▪ k-NN (k=3), Radius-based (1000m).</a:t>
            </a:r>
            <a:b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▪ Lane-aware k-NN (k=3), Lane-aware Radius (1000m)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AED9A5-D7D6-C61F-EAD9-3181FFA8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CCE48F9D-60D6-40FB-ACAE-A18FD6EAC359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4724A-1052-E435-34CB-B1C6048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0BC900-DB95-18C6-33F1-26A6644A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14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68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DE8E-2835-061D-CA2F-82BE1F44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C3DB2B-8892-FFC2-302C-6EC956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5306A8-D663-4AB6-6ACF-4B62308C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FB9226-0AEF-9215-1849-C699A1E5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7CD6F55-48B5-4138-B548-E210F3083A61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9A21D6-0F70-8AE3-1689-24995AF6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E991D-8FA8-ACE2-9564-88B965F7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EC77D-A42B-5882-8F42-9772B64C6F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9012" y="1414180"/>
            <a:ext cx="6833232" cy="506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8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FE84C-A6F0-EDBD-B639-25BE01CA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54510-ABC9-BB5A-69E8-72D1A7FF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Architecture &amp; Implementation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480ADF-272C-4B73-3447-2C1B3261A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Core Layer Structure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(Both Models):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1. Local Message Passing: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GatedGraphConv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2. Global Attention: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TransformerConv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3. Residual connections, Layer Normalization, Feed-Forward Network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7A4767-A1C4-3DB6-EBA2-B27A5C1C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7AECF71-A502-4903-85DC-C2FF87FEC4DA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69C337-BE78-14F3-8C82-C9287160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F98A02-403B-731D-EFE5-31DE88D0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16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0132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C494C-FC6C-E039-8DCC-E5BCD325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AD28C1-D356-A2AD-CA8B-1B25DA0E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40F6FF-7B21-5A86-17D9-0BAB81D8D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dirty="0"/>
              <a:t>Hyperparameters (Shared):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Layers: 4 hybrid layers.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Hidden Size: 64.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Attention Heads: 4.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Positional Encoding Dim: 20.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Dropout: 0.1.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695573-547F-8EB5-F50B-9B6E5CD2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81906DC0-7EFD-46C3-A761-BB74D31E8C2E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35F196-3B1B-A75D-CF8F-01198975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40AE43-18D1-9769-065F-785D552D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17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33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41D1-5F2C-FA83-0509-721750FC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EA65B-8564-B437-9808-38C517B3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Model Adaptation &amp; Inputs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AE20E8-E15D-0198-B810-168A6EB9A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dirty="0"/>
              <a:t>Training Details: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Epochs: 20.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Optimizer: AdamW, LR 0.001, Weight Decay 0.01.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Loss: Mean Squared Error (MSE).</a:t>
            </a:r>
          </a:p>
          <a:p>
            <a:r>
              <a:rPr lang="de-DE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    ▪ Data Split: Chronological 60% train, 20% val, 20% test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2932DC-CAC9-E151-8DCA-730A5951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D6B775C5-1EEC-42AD-9AA2-503F5C452F1E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FE356-3E7A-4081-2A4C-1C2E3378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DAB359-EDF7-6001-EC4D-804DB896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18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5468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BE37-0CC5-EFFE-B806-FEA2A986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BA089A-4DCA-BDCF-B02B-9B533A62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Results: METR-LA Dataset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148392-634A-E09C-2BCB-2F4EE3E59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Overall:</a:t>
            </a:r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Strong performance, competitive RMSEs. RMSE in mph.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5-minute Granularity: RMSE ~9.34-9.84 mph. GPS slightly better (e.g., KNN+Lane: GPS 9.34 vs. GT 9.43). Lane info offers marginal gains.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1-hour Resolution: RMSE ~11.29-11.66 mph. GT slightly better (e.g., Radius+Lane: GT 11.29 vs. GPS 11.40). Lane metadata has slight advantage for GT.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1-day Setting: RMSE higher ~14.28-19.54 mph. GPS better (e.g., KNN: GPS 14.28 vs. GT 14.42). GT sensitive to Radius+Lane (19.54 mph).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Key Takeaway: GPS often better at 5-min &amp; 1-day, GT slightly at 1-hour. Lane info beneficial at shorter scales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BC13ED-1F70-934E-EF65-B1293F43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A7874067-8CD4-46DF-BF84-0095754EE039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5B612-B667-1719-B3E5-14A2CE2A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C0735-8F4A-2545-8F06-5EA93C47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19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83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924C4-5B10-57D6-BFE5-D2933A22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4609C-14A0-C8D8-8E3A-6ECD2E83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Results: METR-LA Dataset</a:t>
            </a:r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CA5EB2-6AB7-F543-40C5-D5FE194F6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2376303"/>
            <a:ext cx="11428412" cy="2867393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0E5F82-2DAE-6918-42A3-41FDC537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CCF487CC-DFC3-4BDD-B5BD-2506E0CE7083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20C98C-DD0C-4BD5-3804-5E29AC0F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74417-83E3-5392-4615-F84F2869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20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3209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970B2-A31E-F16E-A4CF-21E671DB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C8132-1C37-3A2B-9AA9-0B60C937E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Results: PEMS-Bay Dataset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CDE8F0-7C3D-033B-DFE1-727F1A7E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Overall: </a:t>
            </a:r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Significantly lower RMSEs than METR-LA. Performance of GPS and GT "remarkably similar," "virtually indistinguishable".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5-minute Granularity: RMSE ~4.7-5.5 mph. Adjacency choice has minor impact.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1-hour Resolution: Performance closely matched. KNN variant best for both (~4.65 mph).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1-day Forecasting: KNN+Lane provides distinct advantage (lowest RMSE: 3.77 mph for both). Highlights importance of lane-level info for long-term.</a:t>
            </a:r>
          </a:p>
          <a:p>
            <a:r>
              <a:rPr lang="de-DE" sz="24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   ◦ Key Takeaway: Excellent robustness across adjacency types and granularities on PEMS-Bay.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268FF1-3D95-84C9-0FAF-FC68226E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BC8E5A0C-1A9A-4E89-9B2F-18BAFE8CE7F3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BD342D-56DD-90A6-6BDA-68540E58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7FCF04-4075-F51F-68EE-76A219AB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21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1862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4397-1BB1-05C9-EDA1-CEFBB0A5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D6A73-2977-B2A2-4329-488BB5C5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Results: PEMS-Bay Dataset</a:t>
            </a:r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6729B1-4C23-6960-7F34-5F9407618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2381020"/>
            <a:ext cx="11428412" cy="2857960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C499B2-E757-401A-1131-8B2B39F9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EB3F436C-6789-48D5-9AD8-D38687E34AED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04873A-4234-2334-41C3-94B657FE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C9ED86-00A5-5000-0F79-2218889C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22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8633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C3D33-7D4B-4EB5-E657-7415E787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ACCD-84C5-7356-85B3-5E4BC68D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/>
              <a:t>Conclusion &amp; My Contribution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DACCA-9AB1-22D9-1C42-BC66A72E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Graph Transformer &amp; GPS show </a:t>
            </a:r>
            <a:r>
              <a:rPr lang="en-US" sz="2800" dirty="0"/>
              <a:t>strong performance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for traffic speed prediction.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Impact of adjacency matrices and temporal resolution observed.</a:t>
            </a:r>
          </a:p>
          <a:p>
            <a:r>
              <a:rPr lang="en-US" sz="2800" dirty="0"/>
              <a:t>My Contribution: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Implemented &amp; evaluated these Transformer-based models, designed graph-specific attention, integrated RWPE, and conducted extensive experiments with various adjacency matrices to understand their effectiveness in complex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spatio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-temporal traffic networks.</a:t>
            </a:r>
          </a:p>
          <a:p>
            <a:r>
              <a:rPr lang="en-US" sz="2800" dirty="0"/>
              <a:t>Overall Project: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Comprehensive analysis of GNNs vs. Graph Transformers, revealing strengths/limitations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3F2FC4-C63A-7833-1ED4-C9BF68E7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6F9083AA-16FE-4154-BC89-755CE1A08764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993EE9-6F07-F242-0204-41B23E1E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C57BAB-9949-B440-79A0-FBD851CB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23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2692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590B-8F5C-505D-8A04-81039DE8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E2EC1-B32D-5717-4AED-A98CAEFE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en-US" dirty="0" err="1"/>
              <a:t>Optimisation</a:t>
            </a:r>
            <a:r>
              <a:rPr lang="en-US" dirty="0"/>
              <a:t> &amp; Future 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93F21-FA77-D716-92D7-4D5A8DEE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Exploring more sophisticated positional encodings 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Investigating dynamic graph structures for evolving traffic patterns</a:t>
            </a:r>
          </a:p>
          <a:p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Multi-task learning for related prediction challenges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96113-A773-DCD0-9A61-3E72519E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4EB751-4924-0654-4FB6-A5DAC2FD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2483E0-48E0-4A7C-818D-1B590421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24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219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03F5-D5CC-C001-1E09-9AB27A8B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03B5D7-9598-68DB-10F2-76FE7259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83C0BB-564B-A33F-F90F-D897F33D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Objective: 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Evaluated the impact of positional encodings (PE) on 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GraphTransformer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 performance for traffic speed prediction on PEMS-BAY dataset.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B761B1-9F96-CF3F-A7BE-F9E84201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E161DE-9DBD-8C10-A7B6-ED0AE7B2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0481B1-047A-120D-60BE-34BA5F44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70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E9C5-29D6-F582-6184-18120019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1BDCC-C48A-4CE9-567F-67C0AAAA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302720-9016-6E03-7984-CDD67B42C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52" y="1619542"/>
            <a:ext cx="11428729" cy="4380845"/>
          </a:xfrm>
        </p:spPr>
        <p:txBody>
          <a:bodyPr/>
          <a:lstStyle/>
          <a:p>
            <a:r>
              <a:rPr lang="en-US" sz="2800" dirty="0"/>
              <a:t>Experimental Setup:</a:t>
            </a:r>
            <a:b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Adjacency Matrix: k-NN (</a:t>
            </a:r>
            <a:r>
              <a:rPr lang="en-US" sz="2800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adj_mx_knn_pems.pkl</a:t>
            </a: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Temporal Strides: 5 minutes (1 step), 1 hour (12 steps), 1 day (288 steps)</a:t>
            </a:r>
            <a:b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Positional Encodings: Laplacian Eigenvector PE, No PE, Random Walk PE (RWPE)</a:t>
            </a:r>
            <a:b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Metrics: Mean Absolute Error (MAE), Root Mean Squared Error (RMSE), Mean Absolute Percentage Error (MAPE)</a:t>
            </a:r>
            <a:b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Evaluation: Test set and 100th-day prediction</a:t>
            </a:r>
            <a:endParaRPr lang="de-DE" sz="2800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4D283E-2A31-938C-363B-FB39C2C4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1EE25B-171D-F446-911E-DE1A4B18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C6FEFA-3F6E-AE75-598F-FB45A962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26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292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EA414-BE85-98C7-2D3F-94480110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79451-56FD-019B-A1B4-FD6FEE1C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F5E19B-DD6D-48DD-9DFB-FDFBF7A1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Results</a:t>
            </a:r>
            <a:r>
              <a:rPr lang="de-DE" dirty="0"/>
              <a:t>:</a:t>
            </a:r>
          </a:p>
          <a:p>
            <a:r>
              <a:rPr lang="de-DE" b="1" dirty="0"/>
              <a:t>5-Minute Stride</a:t>
            </a:r>
            <a:r>
              <a:rPr lang="de-DE" dirty="0"/>
              <a:t>: 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No PE: MAE: 3.68, RMSE: 5.13, MAPE: 7.01%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RWPE: MAE: 3.14, RMSE: 4.74, MAPE: 6.11%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Laplacian PE: Failed (ARPACK non-convergence)</a:t>
            </a:r>
          </a:p>
          <a:p>
            <a:pPr lvl="1"/>
            <a:r>
              <a:rPr lang="de-DE" b="1" dirty="0">
                <a:solidFill>
                  <a:schemeClr val="tx1"/>
                </a:solidFill>
              </a:rPr>
              <a:t>Observation</a:t>
            </a:r>
            <a:r>
              <a:rPr lang="de-DE" dirty="0">
                <a:solidFill>
                  <a:schemeClr val="tx1"/>
                </a:solidFill>
              </a:rPr>
              <a:t>: RWPE outperforms No PE slightly; Laplacian PE not viable.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5B97EE-87AA-992D-CB05-9809B1FA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9E49C5-E719-BAB6-7EB7-4DA516A5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2275AB-35CE-18E2-2974-A54B53B3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27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256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00B9-2BCA-A729-F002-F548E5AD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3FA1D-D5A2-9062-1620-EEC052CB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514ABD-0979-5D8C-BB09-D306204E6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1-Hour Stride</a:t>
            </a:r>
            <a:r>
              <a:rPr lang="de-DE" dirty="0"/>
              <a:t>: 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No PE: MAE: 2.53, RMSE: 4.75, MAPE: 5.25%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RWPE: MAE: 2.63, RMSE: 4.67, MAPE: 5.30%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Laplacian PE: Failed (ARPACK non-convergence)</a:t>
            </a:r>
          </a:p>
          <a:p>
            <a:pPr lvl="1"/>
            <a:r>
              <a:rPr lang="de-DE" b="1" dirty="0">
                <a:solidFill>
                  <a:schemeClr val="tx1"/>
                </a:solidFill>
              </a:rPr>
              <a:t>Observation</a:t>
            </a:r>
            <a:r>
              <a:rPr lang="de-DE" dirty="0">
                <a:solidFill>
                  <a:schemeClr val="tx1"/>
                </a:solidFill>
              </a:rPr>
              <a:t>: RWPE and No PE perform closely, with No PE slightly better.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DDB194-2008-ACB3-4E04-81FC89A1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CF6AA6-4853-8DF3-28FB-5E9FDEDA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EECB88-2EFD-5904-32D6-8908EEEB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28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2465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A2F8-C3DB-40CF-245B-E7CE6177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0B408-D4CF-27F2-7C8E-8D74E3F1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5F5351-4F88-1EFD-CAC1-205EC7A2D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b="1" dirty="0"/>
              <a:t>1-Day Stride</a:t>
            </a:r>
            <a:r>
              <a:rPr lang="de-DE" sz="2800" dirty="0"/>
              <a:t>: </a:t>
            </a:r>
          </a:p>
          <a:p>
            <a:pPr lvl="1"/>
            <a:r>
              <a:rPr lang="de-DE" sz="2800" dirty="0">
                <a:solidFill>
                  <a:schemeClr val="tx1"/>
                </a:solidFill>
              </a:rPr>
              <a:t>No PE: MAE: 3.23, RMSE: 4.26, MAPE: 4.98%</a:t>
            </a:r>
          </a:p>
          <a:p>
            <a:pPr lvl="1"/>
            <a:r>
              <a:rPr lang="de-DE" sz="2800" dirty="0">
                <a:solidFill>
                  <a:schemeClr val="tx1"/>
                </a:solidFill>
              </a:rPr>
              <a:t>RWPE: MAE: 4.16, RMSE: 5.27, MAPE: 6.35%</a:t>
            </a:r>
          </a:p>
          <a:p>
            <a:pPr lvl="1"/>
            <a:r>
              <a:rPr lang="de-DE" sz="2800" dirty="0">
                <a:solidFill>
                  <a:schemeClr val="tx1"/>
                </a:solidFill>
              </a:rPr>
              <a:t>Laplacian PE: MAE: 3.79, RMSE: 4.92, MAPE: 5.82%</a:t>
            </a:r>
          </a:p>
          <a:p>
            <a:pPr lvl="1"/>
            <a:r>
              <a:rPr lang="de-DE" sz="2800" b="1" dirty="0">
                <a:solidFill>
                  <a:schemeClr val="tx1"/>
                </a:solidFill>
              </a:rPr>
              <a:t>Observation</a:t>
            </a:r>
            <a:r>
              <a:rPr lang="de-DE" sz="2800" dirty="0">
                <a:solidFill>
                  <a:schemeClr val="tx1"/>
                </a:solidFill>
              </a:rPr>
              <a:t>: No PE performs best; RWPE shows higher errors.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95F53-1797-FFE5-BB2E-8B33AE6D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634909-7784-1649-AF1C-066A88F9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4E9C57-3818-D28C-1CFF-A22CF6DC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29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980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99B1-74C1-F873-A7F3-3C7398B9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D7C86-12EB-8728-EB4D-6E5D0457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E6D542-1802-641F-A0F9-A745F9D58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100th-Day Prediction</a:t>
            </a:r>
            <a:r>
              <a:rPr lang="en-US" sz="2800" dirty="0"/>
              <a:t>: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Best performance with No PE (5-min: MAE: 2.29, RMSE: 4.29, MAPE: 4.62%) and RWPE (5-min: MAE: 2.27, RMSE: 4.28, MAPE: 4.57%).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Laplacian PE struggles with long-term predictions (1-day: MAE: 5.25, RMSE: 8.17, MAPE: 12.38%).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9D51E3-18E1-1F03-EAD1-F6AC55CA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47F4B2-E8B8-C4AF-410C-3216002C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A15E94-80B4-0917-7F9C-F86C25E4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30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664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C196-9F3C-79C5-5484-535807FB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1ADA9-02E7-FAD8-B8E2-2A43091E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F59372-08F5-DC7F-48E9-94F977FF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Key Insights</a:t>
            </a:r>
            <a:r>
              <a:rPr lang="en-US" sz="2800" dirty="0"/>
              <a:t>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RWPE enhances performance at finer granularities (5-min, 1-hour) but degrades for 1-day predictions.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No PE is robust across all strides, especially for long-term (1-day) forecasting.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Laplacian Eigenvector PE failed for shorter strides due to computational issues (ARPACK non-convergence).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11FC58-BCFC-F2BB-D9AE-FF3971C2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9B82A7-3F9B-B69E-BE2E-113B2A8F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EF2753-C970-788C-C053-E7A7824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31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7632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ADD0-F95C-4E82-9DF6-FE228142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3EAD5-9D6E-9EE5-4E2D-895912F6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95" y="382167"/>
            <a:ext cx="8191186" cy="856167"/>
          </a:xfrm>
        </p:spPr>
        <p:txBody>
          <a:bodyPr/>
          <a:lstStyle/>
          <a:p>
            <a:r>
              <a:rPr lang="de-DE" dirty="0"/>
              <a:t>Ablation Study 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AAB7C2-1D2A-5FEA-E640-159EB002F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06" y="1881187"/>
            <a:ext cx="6657975" cy="3857625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DB3443-7808-E188-96BB-3D6BFE24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09477"/>
            <a:fld id="{492DA3F7-9F4F-4A0D-AB07-2A5608F8D7EF}" type="datetime1">
              <a:rPr lang="de-DE" smtClean="0">
                <a:solidFill>
                  <a:srgbClr val="909085"/>
                </a:solidFill>
                <a:latin typeface="Calibri"/>
                <a:cs typeface="Calibri"/>
              </a:rPr>
              <a:t>22.07.2025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CDD6D5-8E15-B98C-AB4F-71DF4609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09477"/>
            <a:r>
              <a:rPr lang="en-US">
                <a:solidFill>
                  <a:srgbClr val="909085"/>
                </a:solidFill>
                <a:latin typeface="Calibri"/>
                <a:cs typeface="Calibri"/>
              </a:rPr>
              <a:t>Traffic Predict via GPS and GT/Arash Astanboos/University of Bonn</a:t>
            </a:r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23C42E-4597-CEE6-CA35-7BBECEF6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09477"/>
            <a:fld id="{527F1E04-A1A3-475C-A843-CFD0985386EF}" type="slidenum">
              <a:rPr lang="de-DE">
                <a:solidFill>
                  <a:srgbClr val="909085"/>
                </a:solidFill>
                <a:latin typeface="Calibri"/>
                <a:cs typeface="Calibri"/>
              </a:rPr>
              <a:pPr defTabSz="1209477"/>
              <a:t>32</a:t>
            </a:fld>
            <a:endParaRPr lang="de-DE">
              <a:solidFill>
                <a:srgbClr val="909085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1960839"/>
      </p:ext>
    </p:extLst>
  </p:cSld>
  <p:clrMapOvr>
    <a:masterClrMapping/>
  </p:clrMapOvr>
</p:sld>
</file>

<file path=ppt/theme/theme1.xml><?xml version="1.0" encoding="utf-8"?>
<a:theme xmlns:a="http://schemas.openxmlformats.org/drawingml/2006/main" name="Uni_Bonn_2017">
  <a:themeElements>
    <a:clrScheme name="Uni-Bon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9085"/>
      </a:accent1>
      <a:accent2>
        <a:srgbClr val="07529A"/>
      </a:accent2>
      <a:accent3>
        <a:srgbClr val="EAB90C"/>
      </a:accent3>
      <a:accent4>
        <a:srgbClr val="D8D8C8"/>
      </a:accent4>
      <a:accent5>
        <a:srgbClr val="053D73"/>
      </a:accent5>
      <a:accent6>
        <a:srgbClr val="F8DE83"/>
      </a:accent6>
      <a:hlink>
        <a:srgbClr val="79BAF8"/>
      </a:hlink>
      <a:folHlink>
        <a:srgbClr val="6C6C62"/>
      </a:folHlink>
    </a:clrScheme>
    <a:fontScheme name="Uni-Bonn">
      <a:majorFont>
        <a:latin typeface="Exo 2"/>
        <a:ea typeface=""/>
        <a:cs typeface="Calibri"/>
      </a:majorFont>
      <a:minorFont>
        <a:latin typeface="Calibri"/>
        <a:ea typeface=""/>
        <a:cs typeface="Calibri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16000" indent="-216000">
          <a:spcAft>
            <a:spcPts val="420"/>
          </a:spcAft>
          <a:buFont typeface="Calibri" panose="020F0502020204030204" pitchFamily="34" charset="0"/>
          <a:buChar char="−"/>
          <a:defRPr sz="1400" dirty="0" err="1" smtClean="0">
            <a:solidFill>
              <a:schemeClr val="accent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4743</Words>
  <Application>Microsoft Office PowerPoint</Application>
  <PresentationFormat>Widescreen</PresentationFormat>
  <Paragraphs>334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Exo 2 Semi Bold</vt:lpstr>
      <vt:lpstr>Google Sans Text</vt:lpstr>
      <vt:lpstr>Uni_Bonn_2017</vt:lpstr>
      <vt:lpstr>Traffic Prediction using GNNs and  Graph Transformers</vt:lpstr>
      <vt:lpstr>Introduction &amp; Problem</vt:lpstr>
      <vt:lpstr>Introduction &amp; Problem</vt:lpstr>
      <vt:lpstr>Introduction &amp; Problem</vt:lpstr>
      <vt:lpstr>Introduction &amp; Problem</vt:lpstr>
      <vt:lpstr>Graph Transformers for Traffic</vt:lpstr>
      <vt:lpstr>Graph Transformers for Traffic</vt:lpstr>
      <vt:lpstr>Graph Transformers for Traffic</vt:lpstr>
      <vt:lpstr>Graph Transformers for Traffic</vt:lpstr>
      <vt:lpstr>Graph Transformers for Traffic</vt:lpstr>
      <vt:lpstr>Model Adaptation &amp; Inputs</vt:lpstr>
      <vt:lpstr>Model Adaptation &amp; Inputs</vt:lpstr>
      <vt:lpstr>Model Adaptation &amp; Inputs</vt:lpstr>
      <vt:lpstr>Model Adaptation &amp; Inputs</vt:lpstr>
      <vt:lpstr>Model Adaptation &amp; Inputs</vt:lpstr>
      <vt:lpstr>Architecture &amp; Implementation</vt:lpstr>
      <vt:lpstr>Model Adaptation &amp; Inputs</vt:lpstr>
      <vt:lpstr>Model Adaptation &amp; Inputs</vt:lpstr>
      <vt:lpstr>Results: METR-LA Dataset</vt:lpstr>
      <vt:lpstr>Results: METR-LA Dataset</vt:lpstr>
      <vt:lpstr>Results: PEMS-Bay Dataset</vt:lpstr>
      <vt:lpstr>Results: PEMS-Bay Dataset</vt:lpstr>
      <vt:lpstr>Conclusion &amp; My Contribution</vt:lpstr>
      <vt:lpstr>Optimisation &amp; Future Work</vt:lpstr>
      <vt:lpstr>Ablation Study Results</vt:lpstr>
      <vt:lpstr>Ablation Study Results</vt:lpstr>
      <vt:lpstr>Ablation Study Results</vt:lpstr>
      <vt:lpstr>Ablation Study Results</vt:lpstr>
      <vt:lpstr>Ablation Study Results</vt:lpstr>
      <vt:lpstr>Ablation Study Results</vt:lpstr>
      <vt:lpstr>Ablation Study Results</vt:lpstr>
      <vt:lpstr>Ablation Study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Ines Estevez Magnasco</dc:creator>
  <cp:lastModifiedBy>Arash Astanboos</cp:lastModifiedBy>
  <cp:revision>13</cp:revision>
  <dcterms:created xsi:type="dcterms:W3CDTF">2023-09-25T07:13:58Z</dcterms:created>
  <dcterms:modified xsi:type="dcterms:W3CDTF">2025-07-22T07:39:37Z</dcterms:modified>
</cp:coreProperties>
</file>